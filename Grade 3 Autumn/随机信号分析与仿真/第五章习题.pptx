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88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7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648" y="58"/>
      </p:cViewPr>
      <p:guideLst>
        <p:guide orient="horz" pos="2207"/>
        <p:guide pos="388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2024/1/5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E3E4C-CE9C-46D8-8545-9CCB3C28F8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AD2DBB-033C-4FB4-AE01-7EFFB2EDE12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tags" Target="../tags/tag7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0.png"/><Relationship Id="rId5" Type="http://schemas.openxmlformats.org/officeDocument/2006/relationships/image" Target="../media/image16.wmf"/><Relationship Id="rId10" Type="http://schemas.openxmlformats.org/officeDocument/2006/relationships/image" Target="../media/image19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3" Type="http://schemas.openxmlformats.org/officeDocument/2006/relationships/tags" Target="../tags/tag6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23.wmf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68.xml"/><Relationship Id="rId10" Type="http://schemas.openxmlformats.org/officeDocument/2006/relationships/image" Target="../media/image22.wmf"/><Relationship Id="rId4" Type="http://schemas.openxmlformats.org/officeDocument/2006/relationships/tags" Target="../tags/tag67.xml"/><Relationship Id="rId9" Type="http://schemas.openxmlformats.org/officeDocument/2006/relationships/oleObject" Target="../embeddings/oleObject1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image" Target="../media/image36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oleObject" Target="../embeddings/oleObject28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Relationship Id="rId6" Type="http://schemas.openxmlformats.org/officeDocument/2006/relationships/image" Target="../media/image32.wmf"/><Relationship Id="rId11" Type="http://schemas.openxmlformats.org/officeDocument/2006/relationships/image" Target="../media/image38.png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5.png"/><Relationship Id="rId4" Type="http://schemas.openxmlformats.org/officeDocument/2006/relationships/image" Target="../media/image31.wmf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oleObject" Target="../embeddings/oleObject29.bin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wmf"/><Relationship Id="rId4" Type="http://schemas.openxmlformats.org/officeDocument/2006/relationships/oleObject" Target="../embeddings/oleObject3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Relationship Id="rId5" Type="http://schemas.openxmlformats.org/officeDocument/2006/relationships/image" Target="../media/image46.png"/><Relationship Id="rId4" Type="http://schemas.openxmlformats.org/officeDocument/2006/relationships/image" Target="../media/image4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3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12" Type="http://schemas.openxmlformats.org/officeDocument/2006/relationships/image" Target="../media/image57.png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56.png"/><Relationship Id="rId5" Type="http://schemas.openxmlformats.org/officeDocument/2006/relationships/image" Target="../media/image52.wmf"/><Relationship Id="rId10" Type="http://schemas.openxmlformats.org/officeDocument/2006/relationships/image" Target="../media/image55.png"/><Relationship Id="rId4" Type="http://schemas.openxmlformats.org/officeDocument/2006/relationships/oleObject" Target="../embeddings/oleObject37.bin"/><Relationship Id="rId9" Type="http://schemas.openxmlformats.org/officeDocument/2006/relationships/image" Target="../media/image5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66.png"/><Relationship Id="rId5" Type="http://schemas.openxmlformats.org/officeDocument/2006/relationships/image" Target="../media/image59.wmf"/><Relationship Id="rId10" Type="http://schemas.openxmlformats.org/officeDocument/2006/relationships/image" Target="../media/image62.png"/><Relationship Id="rId4" Type="http://schemas.openxmlformats.org/officeDocument/2006/relationships/oleObject" Target="../embeddings/oleObject41.bin"/><Relationship Id="rId9" Type="http://schemas.openxmlformats.org/officeDocument/2006/relationships/image" Target="../media/image6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3.wmf"/><Relationship Id="rId7" Type="http://schemas.openxmlformats.org/officeDocument/2006/relationships/image" Target="../media/image65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4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68.wmf"/><Relationship Id="rId7" Type="http://schemas.openxmlformats.org/officeDocument/2006/relationships/image" Target="../media/image70.wmf"/><Relationship Id="rId12" Type="http://schemas.openxmlformats.org/officeDocument/2006/relationships/image" Target="../media/image77.png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76.png"/><Relationship Id="rId5" Type="http://schemas.openxmlformats.org/officeDocument/2006/relationships/image" Target="../media/image69.wmf"/><Relationship Id="rId10" Type="http://schemas.openxmlformats.org/officeDocument/2006/relationships/image" Target="../media/image72.png"/><Relationship Id="rId4" Type="http://schemas.openxmlformats.org/officeDocument/2006/relationships/oleObject" Target="../embeddings/oleObject48.bin"/><Relationship Id="rId9" Type="http://schemas.openxmlformats.org/officeDocument/2006/relationships/image" Target="../media/image7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9.png"/><Relationship Id="rId5" Type="http://schemas.openxmlformats.org/officeDocument/2006/relationships/image" Target="../media/image73.wmf"/><Relationship Id="rId4" Type="http://schemas.openxmlformats.org/officeDocument/2006/relationships/oleObject" Target="../embeddings/oleObject5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7" Type="http://schemas.openxmlformats.org/officeDocument/2006/relationships/image" Target="../media/image76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75.wmf"/><Relationship Id="rId4" Type="http://schemas.openxmlformats.org/officeDocument/2006/relationships/oleObject" Target="../embeddings/oleObject5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6.png"/><Relationship Id="rId5" Type="http://schemas.openxmlformats.org/officeDocument/2006/relationships/image" Target="../media/image79.wmf"/><Relationship Id="rId4" Type="http://schemas.openxmlformats.org/officeDocument/2006/relationships/oleObject" Target="../embeddings/oleObject5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94.png"/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12" Type="http://schemas.openxmlformats.org/officeDocument/2006/relationships/image" Target="../media/image93.png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92.png"/><Relationship Id="rId5" Type="http://schemas.openxmlformats.org/officeDocument/2006/relationships/image" Target="../media/image81.wmf"/><Relationship Id="rId10" Type="http://schemas.openxmlformats.org/officeDocument/2006/relationships/image" Target="../media/image91.png"/><Relationship Id="rId4" Type="http://schemas.openxmlformats.org/officeDocument/2006/relationships/oleObject" Target="../embeddings/oleObject60.bin"/><Relationship Id="rId9" Type="http://schemas.openxmlformats.org/officeDocument/2006/relationships/image" Target="../media/image8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7" Type="http://schemas.openxmlformats.org/officeDocument/2006/relationships/image" Target="../media/image87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6.bin"/><Relationship Id="rId5" Type="http://schemas.openxmlformats.org/officeDocument/2006/relationships/image" Target="../media/image86.wmf"/><Relationship Id="rId4" Type="http://schemas.openxmlformats.org/officeDocument/2006/relationships/oleObject" Target="../embeddings/oleObject65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7" Type="http://schemas.openxmlformats.org/officeDocument/2006/relationships/image" Target="../media/image90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69.bin"/><Relationship Id="rId5" Type="http://schemas.openxmlformats.org/officeDocument/2006/relationships/image" Target="../media/image89.wmf"/><Relationship Id="rId4" Type="http://schemas.openxmlformats.org/officeDocument/2006/relationships/oleObject" Target="../embeddings/oleObject6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image" Target="../media/image91.wmf"/><Relationship Id="rId7" Type="http://schemas.openxmlformats.org/officeDocument/2006/relationships/image" Target="../media/image93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107.png"/><Relationship Id="rId5" Type="http://schemas.openxmlformats.org/officeDocument/2006/relationships/image" Target="../media/image92.wmf"/><Relationship Id="rId10" Type="http://schemas.openxmlformats.org/officeDocument/2006/relationships/image" Target="../media/image95.png"/><Relationship Id="rId4" Type="http://schemas.openxmlformats.org/officeDocument/2006/relationships/oleObject" Target="../embeddings/oleObject71.bin"/><Relationship Id="rId9" Type="http://schemas.openxmlformats.org/officeDocument/2006/relationships/image" Target="../media/image94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7.wmf"/><Relationship Id="rId4" Type="http://schemas.openxmlformats.org/officeDocument/2006/relationships/oleObject" Target="../embeddings/oleObject7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/>
          <p:cNvSpPr>
            <a:spLocks noGrp="1" noChangeArrowheads="1"/>
          </p:cNvSpPr>
          <p:nvPr>
            <p:ph type="title"/>
          </p:nvPr>
        </p:nvSpPr>
        <p:spPr>
          <a:xfrm>
            <a:off x="1774825" y="404813"/>
            <a:ext cx="8604250" cy="655637"/>
          </a:xfrm>
          <a:gradFill rotWithShape="0">
            <a:gsLst>
              <a:gs pos="0">
                <a:srgbClr val="FFCC00"/>
              </a:gs>
              <a:gs pos="100000">
                <a:srgbClr val="FFFFFF"/>
              </a:gs>
            </a:gsLst>
            <a:lin ang="5400000" scaled="1"/>
          </a:gradFill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CC00"/>
            </a:extrusionClr>
            <a:contourClr>
              <a:srgbClr val="FFCC00"/>
            </a:contourClr>
          </a:sp3d>
        </p:spPr>
        <p:txBody>
          <a:bodyPr>
            <a:normAutofit fontScale="90000"/>
            <a:flatTx/>
          </a:bodyPr>
          <a:lstStyle/>
          <a:p>
            <a:pPr eaLnBrk="1" hangingPunct="1"/>
            <a:r>
              <a:rPr lang="zh-CN" altLang="en-US" sz="4000" b="1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第五章  随机信号通过线性系统</a:t>
            </a:r>
          </a:p>
        </p:txBody>
      </p:sp>
      <p:pic>
        <p:nvPicPr>
          <p:cNvPr id="3074" name="Picture 3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6019800"/>
            <a:ext cx="838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063750" y="1412875"/>
            <a:ext cx="62642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本章要点：</a:t>
            </a:r>
            <a:r>
              <a:rPr lang="zh-CN" altLang="en-US" sz="2800"/>
              <a:t>        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sp>
        <p:nvSpPr>
          <p:cNvPr id="3076" name="Rectangle 21"/>
          <p:cNvSpPr>
            <a:spLocks noChangeArrowheads="1"/>
          </p:cNvSpPr>
          <p:nvPr/>
        </p:nvSpPr>
        <p:spPr bwMode="auto">
          <a:xfrm>
            <a:off x="2208213" y="2081213"/>
            <a:ext cx="5161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rgbClr val="CC3300"/>
                </a:solidFill>
                <a:latin typeface="宋体" panose="02010600030101010101" pitchFamily="2" charset="-122"/>
              </a:rPr>
              <a:t>1 </a:t>
            </a:r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线性</a:t>
            </a:r>
            <a:r>
              <a:rPr lang="zh-CN" altLang="en-US" sz="2800">
                <a:solidFill>
                  <a:srgbClr val="CC3300"/>
                </a:solidFill>
              </a:rPr>
              <a:t>时不变</a:t>
            </a:r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系统的概念和性质</a:t>
            </a:r>
          </a:p>
        </p:txBody>
      </p:sp>
      <p:graphicFrame>
        <p:nvGraphicFramePr>
          <p:cNvPr id="3077" name="Object 23"/>
          <p:cNvGraphicFramePr>
            <a:graphicFrameLocks noChangeAspect="1"/>
          </p:cNvGraphicFramePr>
          <p:nvPr/>
        </p:nvGraphicFramePr>
        <p:xfrm>
          <a:off x="3575050" y="2781300"/>
          <a:ext cx="316865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54100" imgH="203200" progId="Equation.DSMT4">
                  <p:embed/>
                </p:oleObj>
              </mc:Choice>
              <mc:Fallback>
                <p:oleObj r:id="rId3" imgW="1054100" imgH="2032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2781300"/>
                        <a:ext cx="316865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24"/>
          <p:cNvGraphicFramePr>
            <a:graphicFrameLocks noChangeAspect="1"/>
          </p:cNvGraphicFramePr>
          <p:nvPr/>
        </p:nvGraphicFramePr>
        <p:xfrm>
          <a:off x="3648075" y="3644900"/>
          <a:ext cx="31670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231265" imgH="203200" progId="Equation.3">
                  <p:embed/>
                </p:oleObj>
              </mc:Choice>
              <mc:Fallback>
                <p:oleObj r:id="rId5" imgW="1231265" imgH="2032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3644900"/>
                        <a:ext cx="316706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Rectangle 25"/>
          <p:cNvSpPr>
            <a:spLocks noRot="1" noChangeArrowheads="1"/>
          </p:cNvSpPr>
          <p:nvPr/>
        </p:nvSpPr>
        <p:spPr bwMode="auto">
          <a:xfrm>
            <a:off x="2782888" y="5013325"/>
            <a:ext cx="504031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2800">
                <a:solidFill>
                  <a:schemeClr val="tx2"/>
                </a:solidFill>
              </a:rPr>
              <a:t>系统稳定性与物理可实现性</a:t>
            </a:r>
          </a:p>
        </p:txBody>
      </p:sp>
      <p:sp>
        <p:nvSpPr>
          <p:cNvPr id="3080" name="Rectangle 26"/>
          <p:cNvSpPr>
            <a:spLocks noChangeArrowheads="1"/>
          </p:cNvSpPr>
          <p:nvPr/>
        </p:nvSpPr>
        <p:spPr bwMode="auto">
          <a:xfrm>
            <a:off x="2782888" y="4313238"/>
            <a:ext cx="5161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chemeClr val="tx2"/>
                </a:solidFill>
              </a:rPr>
              <a:t>系统传输函数和冲击响应的计算</a:t>
            </a: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7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3000375" y="3213100"/>
          <a:ext cx="39592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92300" imgH="330200" progId="Equation.3">
                  <p:embed/>
                </p:oleObj>
              </mc:Choice>
              <mc:Fallback>
                <p:oleObj r:id="rId2" imgW="1892300" imgH="330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3213100"/>
                        <a:ext cx="3959225" cy="8032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3000375" y="4221163"/>
          <a:ext cx="386556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90700" imgH="215900" progId="Equation.3">
                  <p:embed/>
                </p:oleObj>
              </mc:Choice>
              <mc:Fallback>
                <p:oleObj r:id="rId4" imgW="179070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221163"/>
                        <a:ext cx="3865563" cy="5429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Rectangle 7"/>
          <p:cNvSpPr>
            <a:spLocks noChangeArrowheads="1"/>
          </p:cNvSpPr>
          <p:nvPr/>
        </p:nvSpPr>
        <p:spPr bwMode="auto">
          <a:xfrm>
            <a:off x="1703388" y="1196975"/>
            <a:ext cx="8610600" cy="138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latin typeface="宋体" panose="02010600030101010101" pitchFamily="2" charset="-122"/>
              </a:rPr>
              <a:t>   </a:t>
            </a:r>
            <a:r>
              <a:rPr lang="zh-CN" altLang="en-US" sz="2800">
                <a:solidFill>
                  <a:srgbClr val="003300"/>
                </a:solidFill>
                <a:latin typeface="宋体" panose="02010600030101010101" pitchFamily="2" charset="-122"/>
              </a:rPr>
              <a:t>若随机输入过程</a:t>
            </a:r>
            <a:r>
              <a:rPr lang="en-US" altLang="zh-CN" sz="2800">
                <a:solidFill>
                  <a:srgbClr val="003300"/>
                </a:solidFill>
                <a:latin typeface="宋体" panose="02010600030101010101" pitchFamily="2" charset="-122"/>
              </a:rPr>
              <a:t>X(t)</a:t>
            </a:r>
            <a:r>
              <a:rPr lang="zh-CN" altLang="en-US" sz="2800">
                <a:solidFill>
                  <a:srgbClr val="003300"/>
                </a:solidFill>
                <a:latin typeface="宋体" panose="02010600030101010101" pitchFamily="2" charset="-122"/>
              </a:rPr>
              <a:t>是平稳的，那么线性时不变系统的输出过程</a:t>
            </a:r>
            <a:r>
              <a:rPr lang="en-US" altLang="zh-CN" sz="2800">
                <a:solidFill>
                  <a:srgbClr val="003300"/>
                </a:solidFill>
                <a:latin typeface="宋体" panose="02010600030101010101" pitchFamily="2" charset="-122"/>
              </a:rPr>
              <a:t>Y(t)</a:t>
            </a:r>
            <a:r>
              <a:rPr lang="zh-CN" altLang="en-US" sz="2800">
                <a:solidFill>
                  <a:srgbClr val="003300"/>
                </a:solidFill>
                <a:latin typeface="宋体" panose="02010600030101010101" pitchFamily="2" charset="-122"/>
              </a:rPr>
              <a:t>也是宽平稳的随机过程。若输入是各态经历过程，输出也将是各态经历过程。</a:t>
            </a:r>
          </a:p>
        </p:txBody>
      </p:sp>
      <p:sp>
        <p:nvSpPr>
          <p:cNvPr id="4100" name="Rectangle 8"/>
          <p:cNvSpPr>
            <a:spLocks noChangeArrowheads="1"/>
          </p:cNvSpPr>
          <p:nvPr/>
        </p:nvSpPr>
        <p:spPr bwMode="auto">
          <a:xfrm>
            <a:off x="2424113" y="547688"/>
            <a:ext cx="4450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rgbClr val="CC3300"/>
                </a:solidFill>
                <a:latin typeface="宋体" panose="02010600030101010101" pitchFamily="2" charset="-122"/>
              </a:rPr>
              <a:t>2 </a:t>
            </a:r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线性系统输出的统计特性</a:t>
            </a:r>
          </a:p>
        </p:txBody>
      </p:sp>
      <p:sp>
        <p:nvSpPr>
          <p:cNvPr id="4101" name="Rectangle 10"/>
          <p:cNvSpPr>
            <a:spLocks noChangeArrowheads="1"/>
          </p:cNvSpPr>
          <p:nvPr/>
        </p:nvSpPr>
        <p:spPr bwMode="auto">
          <a:xfrm>
            <a:off x="2495550" y="2671763"/>
            <a:ext cx="20243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CC3300"/>
                </a:solidFill>
              </a:rPr>
              <a:t>时域分析法</a:t>
            </a:r>
            <a:r>
              <a:rPr lang="en-US" altLang="zh-CN">
                <a:solidFill>
                  <a:srgbClr val="CC3300"/>
                </a:solidFill>
              </a:rPr>
              <a:t>:</a:t>
            </a:r>
          </a:p>
        </p:txBody>
      </p:sp>
      <p:graphicFrame>
        <p:nvGraphicFramePr>
          <p:cNvPr id="4102" name="Object 11"/>
          <p:cNvGraphicFramePr>
            <a:graphicFrameLocks noChangeAspect="1"/>
          </p:cNvGraphicFramePr>
          <p:nvPr/>
        </p:nvGraphicFramePr>
        <p:xfrm>
          <a:off x="3000375" y="5013325"/>
          <a:ext cx="360045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96365" imgH="215900" progId="Equation.3">
                  <p:embed/>
                </p:oleObj>
              </mc:Choice>
              <mc:Fallback>
                <p:oleObj r:id="rId6" imgW="1396365" imgH="2159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5013325"/>
                        <a:ext cx="360045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12"/>
          <p:cNvGraphicFramePr>
            <a:graphicFrameLocks noChangeAspect="1"/>
          </p:cNvGraphicFramePr>
          <p:nvPr/>
        </p:nvGraphicFramePr>
        <p:xfrm>
          <a:off x="3000375" y="5876925"/>
          <a:ext cx="32861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34465" imgH="215900" progId="Equation.3">
                  <p:embed/>
                </p:oleObj>
              </mc:Choice>
              <mc:Fallback>
                <p:oleObj r:id="rId8" imgW="1434465" imgH="2159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5876925"/>
                        <a:ext cx="32861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1" name="Object 7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2927350" y="3284538"/>
          <a:ext cx="60944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57500" imgH="279400" progId="Equation.3">
                  <p:embed/>
                </p:oleObj>
              </mc:Choice>
              <mc:Fallback>
                <p:oleObj r:id="rId2" imgW="2857500" imgH="279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3284538"/>
                        <a:ext cx="6094413" cy="6953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2063750" y="4076700"/>
            <a:ext cx="83058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003300"/>
                </a:solidFill>
                <a:latin typeface="宋体" panose="02010600030101010101" pitchFamily="2" charset="-122"/>
              </a:rPr>
              <a:t>式中</a:t>
            </a:r>
            <a:r>
              <a:rPr lang="en-US" altLang="zh-CN" sz="2800">
                <a:solidFill>
                  <a:srgbClr val="003300"/>
                </a:solidFill>
              </a:rPr>
              <a:t>H(</a:t>
            </a:r>
            <a:r>
              <a:rPr lang="en-US" altLang="zh-CN" sz="2800">
                <a:solidFill>
                  <a:srgbClr val="003300"/>
                </a:solidFill>
                <a:latin typeface="宋体" panose="02010600030101010101" pitchFamily="2" charset="-122"/>
              </a:rPr>
              <a:t>ω</a:t>
            </a:r>
            <a:r>
              <a:rPr lang="en-US" altLang="zh-CN" sz="2800">
                <a:solidFill>
                  <a:srgbClr val="003300"/>
                </a:solidFill>
              </a:rPr>
              <a:t>)</a:t>
            </a:r>
            <a:r>
              <a:rPr lang="zh-CN" altLang="en-US" sz="2800">
                <a:solidFill>
                  <a:srgbClr val="003300"/>
                </a:solidFill>
                <a:latin typeface="宋体" panose="02010600030101010101" pitchFamily="2" charset="-122"/>
              </a:rPr>
              <a:t>是系统的传输函数，其模（绝对值）的平方∣</a:t>
            </a:r>
            <a:r>
              <a:rPr lang="en-US" altLang="zh-CN" sz="2800">
                <a:solidFill>
                  <a:srgbClr val="003300"/>
                </a:solidFill>
              </a:rPr>
              <a:t>H(</a:t>
            </a:r>
            <a:r>
              <a:rPr lang="en-US" altLang="zh-CN" sz="2800">
                <a:solidFill>
                  <a:srgbClr val="003300"/>
                </a:solidFill>
                <a:latin typeface="宋体" panose="02010600030101010101" pitchFamily="2" charset="-122"/>
              </a:rPr>
              <a:t>ω</a:t>
            </a:r>
            <a:r>
              <a:rPr lang="en-US" altLang="zh-CN" sz="2800">
                <a:solidFill>
                  <a:srgbClr val="003300"/>
                </a:solidFill>
              </a:rPr>
              <a:t>)</a:t>
            </a:r>
            <a:r>
              <a:rPr lang="en-US" altLang="zh-CN" sz="2800">
                <a:solidFill>
                  <a:srgbClr val="003300"/>
                </a:solidFill>
                <a:latin typeface="宋体" panose="02010600030101010101" pitchFamily="2" charset="-122"/>
              </a:rPr>
              <a:t>∣</a:t>
            </a:r>
            <a:r>
              <a:rPr lang="en-US" altLang="zh-CN" sz="2800" baseline="30000">
                <a:solidFill>
                  <a:srgbClr val="003300"/>
                </a:solidFill>
              </a:rPr>
              <a:t>2</a:t>
            </a:r>
            <a:r>
              <a:rPr lang="zh-CN" altLang="en-US" sz="2800">
                <a:solidFill>
                  <a:srgbClr val="003300"/>
                </a:solidFill>
                <a:latin typeface="宋体" panose="02010600030101010101" pitchFamily="2" charset="-122"/>
              </a:rPr>
              <a:t>称之为系统的功率传输函数。</a:t>
            </a:r>
            <a:r>
              <a:rPr lang="zh-CN" altLang="en-US" sz="2800">
                <a:solidFill>
                  <a:srgbClr val="003300"/>
                </a:solidFill>
              </a:rPr>
              <a:t> </a:t>
            </a:r>
          </a:p>
        </p:txBody>
      </p:sp>
      <p:sp>
        <p:nvSpPr>
          <p:cNvPr id="5123" name="Rectangle 11"/>
          <p:cNvSpPr>
            <a:spLocks noChangeArrowheads="1"/>
          </p:cNvSpPr>
          <p:nvPr/>
        </p:nvSpPr>
        <p:spPr bwMode="auto">
          <a:xfrm>
            <a:off x="2711450" y="187325"/>
            <a:ext cx="2138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频域分析法</a:t>
            </a:r>
            <a:r>
              <a:rPr lang="en-US" altLang="zh-CN" sz="2800">
                <a:solidFill>
                  <a:srgbClr val="CC3300"/>
                </a:solidFill>
                <a:latin typeface="宋体" panose="02010600030101010101" pitchFamily="2" charset="-122"/>
              </a:rPr>
              <a:t>.</a:t>
            </a:r>
          </a:p>
        </p:txBody>
      </p:sp>
      <p:graphicFrame>
        <p:nvGraphicFramePr>
          <p:cNvPr id="5124" name="Object 1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3000375" y="836613"/>
          <a:ext cx="4602163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15465" imgH="254000" progId="Equation.DSMT4">
                  <p:embed/>
                </p:oleObj>
              </mc:Choice>
              <mc:Fallback>
                <p:oleObj r:id="rId4" imgW="1815465" imgH="2540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836613"/>
                        <a:ext cx="4602163" cy="64293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16"/>
          <p:cNvGraphicFramePr>
            <a:graphicFrameLocks noChangeAspect="1"/>
          </p:cNvGraphicFramePr>
          <p:nvPr/>
        </p:nvGraphicFramePr>
        <p:xfrm>
          <a:off x="2927350" y="1700213"/>
          <a:ext cx="38862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47165" imgH="215900" progId="Equation.3">
                  <p:embed/>
                </p:oleObj>
              </mc:Choice>
              <mc:Fallback>
                <p:oleObj r:id="rId6" imgW="1447165" imgH="2159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1700213"/>
                        <a:ext cx="38862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17"/>
          <p:cNvGraphicFramePr>
            <a:graphicFrameLocks noChangeAspect="1"/>
          </p:cNvGraphicFramePr>
          <p:nvPr/>
        </p:nvGraphicFramePr>
        <p:xfrm>
          <a:off x="3000375" y="2492375"/>
          <a:ext cx="39624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523365" imgH="215900" progId="Equation.3">
                  <p:embed/>
                </p:oleObj>
              </mc:Choice>
              <mc:Fallback>
                <p:oleObj r:id="rId8" imgW="1523365" imgH="2159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492375"/>
                        <a:ext cx="3962400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Rectangle 18"/>
          <p:cNvSpPr>
            <a:spLocks noChangeArrowheads="1"/>
          </p:cNvSpPr>
          <p:nvPr/>
        </p:nvSpPr>
        <p:spPr bwMode="auto">
          <a:xfrm>
            <a:off x="2424113" y="5084763"/>
            <a:ext cx="7200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buFontTx/>
              <a:buChar char="•"/>
            </a:pPr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系统输出的均方值或平均功率</a:t>
            </a:r>
          </a:p>
        </p:txBody>
      </p:sp>
      <p:graphicFrame>
        <p:nvGraphicFramePr>
          <p:cNvPr id="5128" name="Object 19"/>
          <p:cNvGraphicFramePr>
            <a:graphicFrameLocks noChangeAspect="1"/>
          </p:cNvGraphicFramePr>
          <p:nvPr/>
        </p:nvGraphicFramePr>
        <p:xfrm>
          <a:off x="3359150" y="5661025"/>
          <a:ext cx="59594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743200" imgH="393700" progId="Equation.3">
                  <p:embed/>
                </p:oleObj>
              </mc:Choice>
              <mc:Fallback>
                <p:oleObj r:id="rId10" imgW="2743200" imgH="3937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5661025"/>
                        <a:ext cx="595947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0"/>
          <p:cNvSpPr>
            <a:spLocks noChangeArrowheads="1"/>
          </p:cNvSpPr>
          <p:nvPr/>
        </p:nvSpPr>
        <p:spPr bwMode="auto">
          <a:xfrm>
            <a:off x="2782888" y="1125538"/>
            <a:ext cx="4450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CC0000"/>
                </a:solidFill>
                <a:latin typeface="宋体" panose="02010600030101010101" pitchFamily="2" charset="-122"/>
              </a:rPr>
              <a:t>等效噪声宽带的概念和计算</a:t>
            </a:r>
          </a:p>
        </p:txBody>
      </p:sp>
      <p:sp>
        <p:nvSpPr>
          <p:cNvPr id="6146" name="Rectangle 11"/>
          <p:cNvSpPr>
            <a:spLocks noChangeArrowheads="1"/>
          </p:cNvSpPr>
          <p:nvPr/>
        </p:nvSpPr>
        <p:spPr bwMode="auto">
          <a:xfrm>
            <a:off x="2132013" y="1806575"/>
            <a:ext cx="6405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latin typeface="宋体" panose="02010600030101010101" pitchFamily="2" charset="-122"/>
              </a:rPr>
              <a:t>4</a:t>
            </a:r>
            <a:r>
              <a:rPr lang="zh-CN" altLang="en-US" sz="2800">
                <a:latin typeface="宋体" panose="02010600030101010101" pitchFamily="2" charset="-122"/>
              </a:rPr>
              <a:t>、线性系统输出端随机过程的概率分布</a:t>
            </a:r>
          </a:p>
        </p:txBody>
      </p:sp>
      <p:sp>
        <p:nvSpPr>
          <p:cNvPr id="6147" name="Rectangle 12"/>
          <p:cNvSpPr>
            <a:spLocks noChangeArrowheads="1"/>
          </p:cNvSpPr>
          <p:nvPr/>
        </p:nvSpPr>
        <p:spPr bwMode="auto">
          <a:xfrm>
            <a:off x="2208213" y="2492375"/>
            <a:ext cx="7294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CC0000"/>
                </a:solidFill>
                <a:latin typeface="宋体" panose="02010600030101010101" pitchFamily="2" charset="-122"/>
              </a:rPr>
              <a:t>当输入是高斯过程时，输出也是高斯随机过程</a:t>
            </a:r>
          </a:p>
        </p:txBody>
      </p:sp>
      <p:sp>
        <p:nvSpPr>
          <p:cNvPr id="6148" name="Rectangle 13"/>
          <p:cNvSpPr>
            <a:spLocks noChangeArrowheads="1"/>
          </p:cNvSpPr>
          <p:nvPr/>
        </p:nvSpPr>
        <p:spPr bwMode="auto">
          <a:xfrm>
            <a:off x="2208213" y="3254375"/>
            <a:ext cx="74676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宽带随机过程</a:t>
            </a:r>
            <a:r>
              <a:rPr lang="en-US" altLang="zh-CN" sz="2800">
                <a:solidFill>
                  <a:srgbClr val="CC33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非高斯</a:t>
            </a:r>
            <a:r>
              <a:rPr lang="en-US" altLang="zh-CN" sz="2800">
                <a:solidFill>
                  <a:srgbClr val="CC33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>
                <a:solidFill>
                  <a:srgbClr val="CC3300"/>
                </a:solidFill>
                <a:latin typeface="宋体" panose="02010600030101010101" pitchFamily="2" charset="-122"/>
              </a:rPr>
              <a:t>通过窄带线性系统后其输出的概率分布趋于高斯分布</a:t>
            </a:r>
          </a:p>
        </p:txBody>
      </p:sp>
      <p:sp>
        <p:nvSpPr>
          <p:cNvPr id="6149" name="Rectangle 14"/>
          <p:cNvSpPr>
            <a:spLocks noChangeArrowheads="1"/>
          </p:cNvSpPr>
          <p:nvPr/>
        </p:nvSpPr>
        <p:spPr bwMode="auto">
          <a:xfrm>
            <a:off x="2208213" y="4365625"/>
            <a:ext cx="4272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>
                <a:latin typeface="宋体" panose="02010600030101010101" pitchFamily="2" charset="-122"/>
              </a:rPr>
              <a:t>5</a:t>
            </a:r>
            <a:r>
              <a:rPr lang="zh-CN" altLang="en-US" sz="2800">
                <a:latin typeface="宋体" panose="02010600030101010101" pitchFamily="2" charset="-122"/>
              </a:rPr>
              <a:t>、随机序列通过线性系统</a:t>
            </a:r>
          </a:p>
        </p:txBody>
      </p:sp>
      <p:sp>
        <p:nvSpPr>
          <p:cNvPr id="6150" name="Text Box 15"/>
          <p:cNvSpPr txBox="1">
            <a:spLocks noChangeArrowheads="1"/>
          </p:cNvSpPr>
          <p:nvPr/>
        </p:nvSpPr>
        <p:spPr bwMode="auto">
          <a:xfrm>
            <a:off x="2279650" y="5084763"/>
            <a:ext cx="7543800" cy="138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       </a:t>
            </a:r>
            <a:r>
              <a:rPr lang="zh-CN" altLang="en-US" sz="2800"/>
              <a:t>熟练掌握时域、频域分析法分析</a:t>
            </a:r>
            <a:r>
              <a:rPr lang="zh-CN" altLang="en-US" sz="2800">
                <a:latin typeface="宋体" panose="02010600030101010101" pitchFamily="2" charset="-122"/>
              </a:rPr>
              <a:t>随机序列通过线性系统（</a:t>
            </a:r>
            <a:r>
              <a:rPr lang="en-US" altLang="zh-CN" sz="2800">
                <a:latin typeface="宋体" panose="02010600030101010101" pitchFamily="2" charset="-122"/>
              </a:rPr>
              <a:t>FIR</a:t>
            </a:r>
            <a:r>
              <a:rPr lang="zh-CN" altLang="en-US" sz="2800">
                <a:latin typeface="宋体" panose="02010600030101010101" pitchFamily="2" charset="-122"/>
              </a:rPr>
              <a:t>滤波器、</a:t>
            </a:r>
            <a:r>
              <a:rPr lang="en-US" altLang="zh-CN" sz="2800">
                <a:latin typeface="宋体" panose="02010600030101010101" pitchFamily="2" charset="-122"/>
              </a:rPr>
              <a:t>IIR</a:t>
            </a:r>
            <a:r>
              <a:rPr lang="zh-CN" altLang="en-US" sz="2800">
                <a:latin typeface="宋体" panose="02010600030101010101" pitchFamily="2" charset="-122"/>
              </a:rPr>
              <a:t>滤波器）后的统计特性</a:t>
            </a:r>
          </a:p>
        </p:txBody>
      </p:sp>
      <p:sp>
        <p:nvSpPr>
          <p:cNvPr id="311313" name="Rectangle 17"/>
          <p:cNvSpPr>
            <a:spLocks noChangeArrowheads="1"/>
          </p:cNvSpPr>
          <p:nvPr/>
        </p:nvSpPr>
        <p:spPr bwMode="auto">
          <a:xfrm>
            <a:off x="2208213" y="423863"/>
            <a:ext cx="3738880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3 </a:t>
            </a:r>
            <a:r>
              <a:rPr kumimoji="1" lang="zh-CN" altLang="en-US" sz="28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白噪声通过线性系统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3"/>
          <p:cNvSpPr>
            <a:spLocks noChangeArrowheads="1"/>
          </p:cNvSpPr>
          <p:nvPr/>
        </p:nvSpPr>
        <p:spPr bwMode="auto">
          <a:xfrm>
            <a:off x="2063750" y="188913"/>
            <a:ext cx="6228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CC3300"/>
                </a:solidFill>
              </a:rPr>
              <a:t>形成滤波器、白化滤波器的概念及求解</a:t>
            </a:r>
          </a:p>
        </p:txBody>
      </p:sp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1992313" y="836613"/>
            <a:ext cx="8382000" cy="224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/>
              <a:t>        </a:t>
            </a:r>
            <a:r>
              <a:rPr lang="zh-CN" altLang="en-US" sz="2800"/>
              <a:t>任意具有有理谱密度的零均值平稳随机过程 </a:t>
            </a:r>
            <a:r>
              <a:rPr lang="en-US" altLang="zh-CN" sz="2800"/>
              <a:t>(</a:t>
            </a:r>
            <a:r>
              <a:rPr lang="zh-CN" altLang="en-US" sz="2800"/>
              <a:t>序列</a:t>
            </a:r>
            <a:r>
              <a:rPr lang="en-US" altLang="zh-CN" sz="2800"/>
              <a:t>) </a:t>
            </a:r>
            <a:r>
              <a:rPr lang="zh-CN" altLang="en-US" sz="2800"/>
              <a:t>，可以看作是一零均值单位谱高的白噪声 </a:t>
            </a:r>
            <a:r>
              <a:rPr lang="en-US" altLang="zh-CN" sz="2800"/>
              <a:t>(</a:t>
            </a:r>
            <a:r>
              <a:rPr lang="zh-CN" altLang="en-US" sz="2800"/>
              <a:t>序列</a:t>
            </a:r>
            <a:r>
              <a:rPr lang="en-US" altLang="zh-CN" sz="2800"/>
              <a:t>)</a:t>
            </a:r>
            <a:r>
              <a:rPr lang="zh-CN" altLang="en-US" sz="2800"/>
              <a:t>通过线性系统（</a:t>
            </a:r>
            <a:r>
              <a:rPr lang="zh-CN" altLang="en-US" sz="2800">
                <a:solidFill>
                  <a:srgbClr val="CC3300"/>
                </a:solidFill>
              </a:rPr>
              <a:t>稳定的最小相位系统</a:t>
            </a:r>
            <a:r>
              <a:rPr lang="zh-CN" altLang="en-US" sz="2800"/>
              <a:t>）形成的，称这个线性系统</a:t>
            </a:r>
            <a:r>
              <a:rPr lang="en-US" altLang="zh-CN"/>
              <a:t>H(s) </a:t>
            </a:r>
            <a:r>
              <a:rPr lang="zh-CN" altLang="en-US"/>
              <a:t>或</a:t>
            </a:r>
            <a:r>
              <a:rPr lang="en-US" altLang="zh-CN"/>
              <a:t>H(z)</a:t>
            </a:r>
            <a:r>
              <a:rPr lang="zh-CN" altLang="en-US" sz="2800"/>
              <a:t>为这个随机过程</a:t>
            </a:r>
            <a:r>
              <a:rPr lang="en-US" altLang="zh-CN" sz="2800"/>
              <a:t>(</a:t>
            </a:r>
            <a:r>
              <a:rPr lang="zh-CN" altLang="en-US" sz="2800"/>
              <a:t>序列</a:t>
            </a:r>
            <a:r>
              <a:rPr lang="en-US" altLang="zh-CN" sz="2800"/>
              <a:t>)</a:t>
            </a:r>
            <a:r>
              <a:rPr lang="zh-CN" altLang="en-US" sz="2800"/>
              <a:t>的形成滤波器。</a:t>
            </a:r>
          </a:p>
        </p:txBody>
      </p:sp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2135188" y="3213100"/>
            <a:ext cx="8208962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        </a:t>
            </a:r>
            <a:r>
              <a:rPr lang="zh-CN" altLang="en-US" sz="2800"/>
              <a:t>把已知的有色噪声通过某系统后变为白噪声，这个系统称为白化滤波器。</a:t>
            </a:r>
          </a:p>
        </p:txBody>
      </p:sp>
      <p:graphicFrame>
        <p:nvGraphicFramePr>
          <p:cNvPr id="7172" name="Object 7"/>
          <p:cNvGraphicFramePr>
            <a:graphicFrameLocks noChangeAspect="1"/>
          </p:cNvGraphicFramePr>
          <p:nvPr/>
        </p:nvGraphicFramePr>
        <p:xfrm>
          <a:off x="4943475" y="5868988"/>
          <a:ext cx="2590800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31265" imgH="469900" progId="Equation.3">
                  <p:embed/>
                </p:oleObj>
              </mc:Choice>
              <mc:Fallback>
                <p:oleObj r:id="rId2" imgW="1231265" imgH="469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5868988"/>
                        <a:ext cx="2590800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3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4365625"/>
            <a:ext cx="64770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ChangeArrowheads="1"/>
          </p:cNvSpPr>
          <p:nvPr/>
        </p:nvSpPr>
        <p:spPr bwMode="auto">
          <a:xfrm>
            <a:off x="1992313" y="549275"/>
            <a:ext cx="3200400" cy="609600"/>
          </a:xfrm>
          <a:prstGeom prst="rect">
            <a:avLst/>
          </a:prstGeom>
          <a:gradFill rotWithShape="0">
            <a:gsLst>
              <a:gs pos="0">
                <a:srgbClr val="FFCC00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CC00"/>
            </a:extrusionClr>
            <a:contourClr>
              <a:srgbClr val="FFCC00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</a:extLst>
        </p:spPr>
        <p:txBody>
          <a:bodyPr anchor="ctr">
            <a:flatTx/>
          </a:bodyPr>
          <a:lstStyle/>
          <a:p>
            <a:pPr algn="ctr"/>
            <a:r>
              <a:rPr lang="zh-CN" altLang="en-US" sz="3200">
                <a:solidFill>
                  <a:srgbClr val="CC3300"/>
                </a:solidFill>
              </a:rPr>
              <a:t>重点及要求：</a:t>
            </a:r>
          </a:p>
        </p:txBody>
      </p:sp>
      <p:sp>
        <p:nvSpPr>
          <p:cNvPr id="8194" name="Rectangle 6"/>
          <p:cNvSpPr>
            <a:spLocks noChangeArrowheads="1"/>
          </p:cNvSpPr>
          <p:nvPr/>
        </p:nvSpPr>
        <p:spPr bwMode="auto">
          <a:xfrm>
            <a:off x="2208213" y="1989138"/>
            <a:ext cx="7993062" cy="3107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latin typeface="宋体" panose="02010600030101010101" pitchFamily="2" charset="-122"/>
              </a:rPr>
              <a:t>熟练掌握时域分析法和频域分析法计算平稳随机信号</a:t>
            </a:r>
            <a:r>
              <a:rPr lang="en-US" altLang="zh-CN" sz="2800">
                <a:latin typeface="宋体" panose="02010600030101010101" pitchFamily="2" charset="-122"/>
              </a:rPr>
              <a:t>(</a:t>
            </a:r>
            <a:r>
              <a:rPr lang="zh-CN" altLang="en-US" sz="2800">
                <a:latin typeface="宋体" panose="02010600030101010101" pitchFamily="2" charset="-122"/>
              </a:rPr>
              <a:t>序列</a:t>
            </a:r>
            <a:r>
              <a:rPr lang="en-US" altLang="zh-CN" sz="2800">
                <a:latin typeface="宋体" panose="02010600030101010101" pitchFamily="2" charset="-122"/>
              </a:rPr>
              <a:t>)</a:t>
            </a:r>
            <a:r>
              <a:rPr lang="zh-CN" altLang="en-US" sz="2800">
                <a:latin typeface="宋体" panose="02010600030101010101" pitchFamily="2" charset="-122"/>
              </a:rPr>
              <a:t>通过线性系统后的二阶统计特性</a:t>
            </a:r>
            <a:r>
              <a:rPr lang="en-US" altLang="zh-CN" sz="2800">
                <a:latin typeface="宋体" panose="02010600030101010101" pitchFamily="2" charset="-122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会计算两种特殊情况下线性系统输出端的概率密度</a:t>
            </a:r>
            <a:r>
              <a:rPr lang="en-US" altLang="zh-CN" sz="2800">
                <a:latin typeface="宋体" panose="02010600030101010101" pitchFamily="2" charset="-122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会计算系统等效噪声宽带</a:t>
            </a:r>
            <a:r>
              <a:rPr lang="en-US" altLang="zh-CN" sz="2800">
                <a:latin typeface="宋体" panose="02010600030101010101" pitchFamily="2" charset="-122"/>
              </a:rPr>
              <a:t>,</a:t>
            </a:r>
            <a:r>
              <a:rPr lang="zh-CN" altLang="en-US" sz="2800">
                <a:latin typeface="宋体" panose="02010600030101010101" pitchFamily="2" charset="-122"/>
              </a:rPr>
              <a:t>会求形成滤波器、白化滤波器</a:t>
            </a:r>
            <a:r>
              <a:rPr lang="en-US" altLang="zh-CN" sz="2800">
                <a:latin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2"/>
          <p:cNvSpPr txBox="1">
            <a:spLocks noChangeArrowheads="1"/>
          </p:cNvSpPr>
          <p:nvPr/>
        </p:nvSpPr>
        <p:spPr bwMode="auto">
          <a:xfrm>
            <a:off x="2152650" y="1590675"/>
            <a:ext cx="69834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解：已知：</a:t>
            </a:r>
          </a:p>
        </p:txBody>
      </p:sp>
      <p:graphicFrame>
        <p:nvGraphicFramePr>
          <p:cNvPr id="9218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870450" y="1584325"/>
          <a:ext cx="332581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16965" imgH="254000" progId="Equation.DSMT4">
                  <p:embed/>
                </p:oleObj>
              </mc:Choice>
              <mc:Fallback>
                <p:oleObj r:id="rId2" imgW="1116965" imgH="25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450" y="1584325"/>
                        <a:ext cx="3325813" cy="6508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51088" y="3041650"/>
          <a:ext cx="3197225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69365" imgH="292100" progId="Equation.DSMT4">
                  <p:embed/>
                </p:oleObj>
              </mc:Choice>
              <mc:Fallback>
                <p:oleObj r:id="rId4" imgW="1269365" imgH="292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041650"/>
                        <a:ext cx="3197225" cy="7731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5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5643563" y="3041650"/>
          <a:ext cx="2378075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49300" imgH="228600" progId="Equation.DSMT4">
                  <p:embed/>
                </p:oleObj>
              </mc:Choice>
              <mc:Fallback>
                <p:oleObj r:id="rId6" imgW="7493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3041650"/>
                        <a:ext cx="2378075" cy="6588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6"/>
          <p:cNvSpPr txBox="1">
            <a:spLocks noChangeArrowheads="1"/>
          </p:cNvSpPr>
          <p:nvPr/>
        </p:nvSpPr>
        <p:spPr bwMode="auto">
          <a:xfrm>
            <a:off x="2278063" y="2262188"/>
            <a:ext cx="51847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有关系式：</a:t>
            </a:r>
          </a:p>
        </p:txBody>
      </p:sp>
      <p:graphicFrame>
        <p:nvGraphicFramePr>
          <p:cNvPr id="9222" name="Object 7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3384392" y="3785236"/>
          <a:ext cx="4078605" cy="2773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59865" imgH="1079500" progId="Equation.DSMT4">
                  <p:embed/>
                </p:oleObj>
              </mc:Choice>
              <mc:Fallback>
                <p:oleObj r:id="rId8" imgW="1459865" imgH="1079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392" y="3785236"/>
                        <a:ext cx="4078605" cy="277368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3" name="图片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0" b="-3351"/>
          <a:stretch>
            <a:fillRect/>
          </a:stretch>
        </p:blipFill>
        <p:spPr bwMode="auto">
          <a:xfrm>
            <a:off x="1649413" y="419100"/>
            <a:ext cx="8893175" cy="97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8021955" y="4208780"/>
                <a:ext cx="3740785" cy="748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sub>
                      </m:sSub>
                      <m:nary>
                        <m:naryPr>
                          <m:limLoc m:val="subSup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h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𝜏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𝜏</m:t>
                          </m:r>
                        </m:e>
                      </m:nary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(0)</m:t>
                      </m:r>
                    </m:oMath>
                  </m:oMathPara>
                </a14:m>
                <a:endParaRPr lang="en-US" altLang="zh-CN" sz="2000" i="1">
                  <a:solidFill>
                    <a:srgbClr val="FF0000"/>
                  </a:solidFill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955" y="4208780"/>
                <a:ext cx="3740785" cy="74866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015" y="213043"/>
            <a:ext cx="8505825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5" name="Text 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80235" y="1905635"/>
            <a:ext cx="69119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系统的传递函数为：</a:t>
            </a:r>
          </a:p>
        </p:txBody>
      </p:sp>
      <p:graphicFrame>
        <p:nvGraphicFramePr>
          <p:cNvPr id="11266" name="Object 3"/>
          <p:cNvGraphicFramePr>
            <a:graphicFrameLocks noGrp="1" noChangeAspect="1"/>
          </p:cNvGraphicFramePr>
          <p:nvPr>
            <p:ph sz="half" idx="1"/>
            <p:custDataLst>
              <p:tags r:id="rId3"/>
            </p:custDataLst>
          </p:nvPr>
        </p:nvGraphicFramePr>
        <p:xfrm>
          <a:off x="4590098" y="2894648"/>
          <a:ext cx="540067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501900" imgH="444500" progId="Equation.DSMT4">
                  <p:embed/>
                </p:oleObj>
              </mc:Choice>
              <mc:Fallback>
                <p:oleObj r:id="rId9" imgW="2501900" imgH="444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0098" y="2894648"/>
                        <a:ext cx="5400675" cy="100806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83778" y="4426903"/>
            <a:ext cx="7993062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求输出的自相关函数，可以分别从时域和频域两种方法来求</a:t>
            </a:r>
            <a:r>
              <a:rPr lang="en-US" altLang="zh-CN" sz="2800"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11268" name="Object 5"/>
          <p:cNvGraphicFramePr>
            <a:graphicFrameLocks noGrp="1" noChangeAspect="1"/>
          </p:cNvGraphicFramePr>
          <p:nvPr>
            <p:ph sz="half" idx="2"/>
            <p:custDataLst>
              <p:tags r:id="rId5"/>
            </p:custDataLst>
          </p:nvPr>
        </p:nvGraphicFramePr>
        <p:xfrm>
          <a:off x="3580765" y="5445443"/>
          <a:ext cx="4692650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739900" imgH="508000" progId="Equation.DSMT4">
                  <p:embed/>
                </p:oleObj>
              </mc:Choice>
              <mc:Fallback>
                <p:oleObj r:id="rId11" imgW="1739900" imgH="508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0765" y="5445443"/>
                        <a:ext cx="4692650" cy="124301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372235" y="2369820"/>
            <a:ext cx="3218180" cy="21177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2"/>
          <p:cNvSpPr txBox="1">
            <a:spLocks noChangeArrowheads="1"/>
          </p:cNvSpPr>
          <p:nvPr/>
        </p:nvSpPr>
        <p:spPr bwMode="auto">
          <a:xfrm>
            <a:off x="1771650" y="1091883"/>
            <a:ext cx="73453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解：先求出输入电压的自相关函数</a:t>
            </a:r>
          </a:p>
        </p:txBody>
      </p:sp>
      <p:graphicFrame>
        <p:nvGraphicFramePr>
          <p:cNvPr id="10242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1844675" y="1913255"/>
          <a:ext cx="7775575" cy="1957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29000" imgH="862965" progId="Equation.DSMT4">
                  <p:embed/>
                </p:oleObj>
              </mc:Choice>
              <mc:Fallback>
                <p:oleObj r:id="rId2" imgW="3429000" imgH="86296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675" y="1913255"/>
                        <a:ext cx="7775575" cy="195770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132013" y="4116070"/>
          <a:ext cx="349726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82700" imgH="241300" progId="Equation.DSMT4">
                  <p:embed/>
                </p:oleObj>
              </mc:Choice>
              <mc:Fallback>
                <p:oleObj r:id="rId4" imgW="12827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4116070"/>
                        <a:ext cx="3497262" cy="58896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1857375" y="4935220"/>
            <a:ext cx="50403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所以：</a:t>
            </a:r>
          </a:p>
        </p:txBody>
      </p:sp>
      <p:graphicFrame>
        <p:nvGraphicFramePr>
          <p:cNvPr id="10245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143250" y="4705033"/>
          <a:ext cx="63277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870200" imgH="393700" progId="Equation.DSMT4">
                  <p:embed/>
                </p:oleObj>
              </mc:Choice>
              <mc:Fallback>
                <p:oleObj r:id="rId6" imgW="28702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705033"/>
                        <a:ext cx="6327775" cy="9810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7804785" y="996950"/>
                <a:ext cx="4064000" cy="1488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𝑿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~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𝑼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𝒂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 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𝒃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</m:mr>
                        <m:m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𝑬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[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𝑿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]=</m:t>
                            </m:r>
                            <m:f>
                              <m:f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𝒂</m:t>
                                </m:r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 + </m:t>
                                </m:r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𝒃</m:t>
                                </m:r>
                              </m:num>
                              <m:den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mr>
                        <m:m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𝑫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[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𝑿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]=</m:t>
                            </m:r>
                            <m:f>
                              <m:f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𝒃</m:t>
                                </m:r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 − </m:t>
                                </m:r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𝟐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𝟏𝟐</m:t>
                                </m:r>
                              </m:den>
                            </m:f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𝟏𝟐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US" altLang="zh-CN" b="1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785" y="996950"/>
                <a:ext cx="4064000" cy="148844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7866380" y="3668395"/>
                <a:ext cx="4064000" cy="622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→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𝟐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𝝅𝜹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𝒘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</m:mr>
                        <m:m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𝒄𝒐𝒔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𝒕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)→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𝝅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[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𝜹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𝒘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)+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𝜹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𝒘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)]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b="1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380" y="3668395"/>
                <a:ext cx="4064000" cy="6223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2063750" y="1032828"/>
          <a:ext cx="770572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721100" imgH="711200" progId="Equation.DSMT4">
                  <p:embed/>
                </p:oleObj>
              </mc:Choice>
              <mc:Fallback>
                <p:oleObj r:id="rId2" imgW="3721100" imgH="71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032828"/>
                        <a:ext cx="7705725" cy="18002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132138" y="3117215"/>
          <a:ext cx="639127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832100" imgH="419100" progId="Equation.DSMT4">
                  <p:embed/>
                </p:oleObj>
              </mc:Choice>
              <mc:Fallback>
                <p:oleObj r:id="rId4" imgW="2832100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117215"/>
                        <a:ext cx="6391275" cy="97948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101975" y="4295140"/>
          <a:ext cx="584835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603500" imgH="419100" progId="Equation.DSMT4">
                  <p:embed/>
                </p:oleObj>
              </mc:Choice>
              <mc:Fallback>
                <p:oleObj r:id="rId6" imgW="26035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975" y="4295140"/>
                        <a:ext cx="5848350" cy="91598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3"/>
          <p:cNvSpPr txBox="1">
            <a:spLocks noChangeArrowheads="1"/>
          </p:cNvSpPr>
          <p:nvPr/>
        </p:nvSpPr>
        <p:spPr bwMode="auto">
          <a:xfrm>
            <a:off x="1847850" y="1585913"/>
            <a:ext cx="50403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解</a:t>
            </a:r>
            <a:r>
              <a:rPr lang="en-US" altLang="zh-CN" sz="2800">
                <a:latin typeface="宋体" panose="02010600030101010101" pitchFamily="2" charset="-122"/>
              </a:rPr>
              <a:t>:  </a:t>
            </a:r>
            <a:r>
              <a:rPr lang="zh-CN" altLang="en-US" sz="2800"/>
              <a:t>输出的总平均功率</a:t>
            </a:r>
          </a:p>
        </p:txBody>
      </p:sp>
      <p:sp>
        <p:nvSpPr>
          <p:cNvPr id="13314" name="Text Box 4"/>
          <p:cNvSpPr txBox="1">
            <a:spLocks noChangeArrowheads="1"/>
          </p:cNvSpPr>
          <p:nvPr/>
        </p:nvSpPr>
        <p:spPr bwMode="auto">
          <a:xfrm>
            <a:off x="1992313" y="998538"/>
            <a:ext cx="82073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补充：求输出的总平均功率和输出的一维概率密度</a:t>
            </a:r>
            <a:r>
              <a:rPr lang="en-US" altLang="zh-CN" sz="2800">
                <a:latin typeface="宋体" panose="02010600030101010101" pitchFamily="2" charset="-122"/>
              </a:rPr>
              <a:t>.</a:t>
            </a:r>
          </a:p>
        </p:txBody>
      </p:sp>
      <p:graphicFrame>
        <p:nvGraphicFramePr>
          <p:cNvPr id="13315" name="Object 5"/>
          <p:cNvGraphicFramePr>
            <a:graphicFrameLocks noChangeAspect="1"/>
          </p:cNvGraphicFramePr>
          <p:nvPr/>
        </p:nvGraphicFramePr>
        <p:xfrm>
          <a:off x="2640013" y="2233613"/>
          <a:ext cx="6410325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921000" imgH="812800" progId="Equation.DSMT4">
                  <p:embed/>
                </p:oleObj>
              </mc:Choice>
              <mc:Fallback>
                <p:oleObj r:id="rId3" imgW="2921000" imgH="812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2233613"/>
                        <a:ext cx="6410325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Rectangle 8"/>
          <p:cNvSpPr>
            <a:spLocks noChangeArrowheads="1"/>
          </p:cNvSpPr>
          <p:nvPr/>
        </p:nvSpPr>
        <p:spPr bwMode="auto">
          <a:xfrm>
            <a:off x="2208213" y="4014947"/>
            <a:ext cx="8006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/>
              <a:t>白噪声通过带通系统后其概率密度应为高斯分布，</a:t>
            </a:r>
          </a:p>
        </p:txBody>
      </p:sp>
      <p:graphicFrame>
        <p:nvGraphicFramePr>
          <p:cNvPr id="13317" name="Object 7"/>
          <p:cNvGraphicFramePr>
            <a:graphicFrameLocks noChangeAspect="1"/>
          </p:cNvGraphicFramePr>
          <p:nvPr/>
        </p:nvGraphicFramePr>
        <p:xfrm>
          <a:off x="2351088" y="4760754"/>
          <a:ext cx="4244975" cy="973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701800" imgH="393700" progId="Equation.DSMT4">
                  <p:embed/>
                </p:oleObj>
              </mc:Choice>
              <mc:Fallback>
                <p:oleObj r:id="rId5" imgW="17018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4760754"/>
                        <a:ext cx="4244975" cy="973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Rectangle 9"/>
          <p:cNvSpPr>
            <a:spLocks noChangeArrowheads="1"/>
          </p:cNvSpPr>
          <p:nvPr/>
        </p:nvSpPr>
        <p:spPr bwMode="auto">
          <a:xfrm>
            <a:off x="2347913" y="6056472"/>
            <a:ext cx="538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>
                <a:latin typeface="宋体" panose="02010600030101010101" pitchFamily="2" charset="-122"/>
              </a:rPr>
              <a:t>即</a:t>
            </a:r>
            <a:endParaRPr lang="zh-CN" altLang="en-US" sz="2800" b="0">
              <a:latin typeface="宋体" panose="02010600030101010101" pitchFamily="2" charset="-122"/>
            </a:endParaRPr>
          </a:p>
        </p:txBody>
      </p:sp>
      <p:graphicFrame>
        <p:nvGraphicFramePr>
          <p:cNvPr id="13319" name="Object 10"/>
          <p:cNvGraphicFramePr>
            <a:graphicFrameLocks noChangeAspect="1"/>
          </p:cNvGraphicFramePr>
          <p:nvPr/>
        </p:nvGraphicFramePr>
        <p:xfrm>
          <a:off x="3355975" y="5840413"/>
          <a:ext cx="2408238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965200" imgH="393700" progId="Equation.DSMT4">
                  <p:embed/>
                </p:oleObj>
              </mc:Choice>
              <mc:Fallback>
                <p:oleObj r:id="rId7" imgW="965200" imgH="3937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975" y="5840413"/>
                        <a:ext cx="2408238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20" name="图片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38" y="165100"/>
            <a:ext cx="84963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1" name="图片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700" y="4552950"/>
            <a:ext cx="3833813" cy="217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6023610" y="1692910"/>
            <a:ext cx="2673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总平均功率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→均方值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0" y="4177030"/>
                <a:ext cx="1992630" cy="88646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𝑌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𝑋</m:t>
                                </m:r>
                              </m:sub>
                            </m:sSub>
                            <m:nary>
                              <m:naryPr>
                                <m:limLoc m:val="subSup"/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−∞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h</m:t>
                                </m:r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𝜏</m:t>
                                </m:r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𝑑</m:t>
                                </m:r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𝜏</m:t>
                                </m:r>
                              </m:e>
                            </m:nary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𝐻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(0) 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𝑌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𝑌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𝐸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[</m:t>
                            </m:r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𝑌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]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77030"/>
                <a:ext cx="1992630" cy="886460"/>
              </a:xfrm>
              <a:prstGeom prst="rect">
                <a:avLst/>
              </a:prstGeom>
              <a:blipFill rotWithShape="1">
                <a:blip r:embed="rId11"/>
                <a:stretch>
                  <a:fillRect r="-65010" b="-6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28" name="Object 19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8432165" y="1513205"/>
          <a:ext cx="339280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679700" imgH="393700" progId="Equation.3">
                  <p:embed/>
                </p:oleObj>
              </mc:Choice>
              <mc:Fallback>
                <p:oleObj r:id="rId12" imgW="2679700" imgH="3937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2165" y="1513205"/>
                        <a:ext cx="339280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9905365" y="5185410"/>
            <a:ext cx="763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rgbClr val="FF0000"/>
                </a:solidFill>
              </a:rPr>
              <a:t>N</a:t>
            </a:r>
            <a:r>
              <a:rPr lang="en-US" altLang="zh-CN" b="1" baseline="-25000">
                <a:solidFill>
                  <a:srgbClr val="FF0000"/>
                </a:solidFill>
              </a:rPr>
              <a:t>0</a:t>
            </a:r>
            <a:r>
              <a:rPr lang="en-US" altLang="zh-CN" b="1">
                <a:solidFill>
                  <a:srgbClr val="FF0000"/>
                </a:solidFill>
              </a:rPr>
              <a:t>/2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2"/>
          <p:cNvSpPr txBox="1">
            <a:spLocks noChangeArrowheads="1"/>
          </p:cNvSpPr>
          <p:nvPr/>
        </p:nvSpPr>
        <p:spPr bwMode="auto">
          <a:xfrm>
            <a:off x="1774825" y="2565400"/>
            <a:ext cx="741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latin typeface="宋体" panose="02010600030101010101" pitchFamily="2" charset="-122"/>
              </a:rPr>
              <a:t>(1)</a:t>
            </a:r>
            <a:r>
              <a:rPr lang="zh-CN" altLang="en-US" sz="2800">
                <a:latin typeface="宋体" panose="02010600030101010101" pitchFamily="2" charset="-122"/>
              </a:rPr>
              <a:t>解：由系统图可知：</a:t>
            </a:r>
          </a:p>
        </p:txBody>
      </p:sp>
      <p:graphicFrame>
        <p:nvGraphicFramePr>
          <p:cNvPr id="14339" name="Object 7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1953578" y="5100003"/>
          <a:ext cx="45910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006600" imgH="419100" progId="Equation.DSMT4">
                  <p:embed/>
                </p:oleObj>
              </mc:Choice>
              <mc:Fallback>
                <p:oleObj r:id="rId3" imgW="2006600" imgH="419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3578" y="5100003"/>
                        <a:ext cx="4591050" cy="9588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0" name="图片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813" y="217488"/>
            <a:ext cx="7826375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图片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8" t="3819" b="7373"/>
          <a:stretch>
            <a:fillRect/>
          </a:stretch>
        </p:blipFill>
        <p:spPr bwMode="auto">
          <a:xfrm>
            <a:off x="6383338" y="2295525"/>
            <a:ext cx="4130675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521710" y="3740785"/>
                <a:ext cx="4509135" cy="111633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)=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𝛿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)−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𝛿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)=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𝑢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</m:mr>
                        <m:m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h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)=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)∗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)=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𝑢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)−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𝑢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710" y="3740785"/>
                <a:ext cx="4509135" cy="111633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183120" y="5002530"/>
            <a:ext cx="3800475" cy="14668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2"/>
          <p:cNvSpPr txBox="1">
            <a:spLocks noChangeArrowheads="1"/>
          </p:cNvSpPr>
          <p:nvPr/>
        </p:nvSpPr>
        <p:spPr bwMode="auto">
          <a:xfrm>
            <a:off x="1992313" y="476250"/>
            <a:ext cx="46799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（</a:t>
            </a:r>
            <a:r>
              <a:rPr lang="en-US" altLang="zh-CN" sz="2800">
                <a:latin typeface="宋体" panose="02010600030101010101" pitchFamily="2" charset="-122"/>
              </a:rPr>
              <a:t>2</a:t>
            </a:r>
            <a:r>
              <a:rPr lang="zh-CN" altLang="en-US" sz="2800">
                <a:latin typeface="宋体" panose="02010600030101010101" pitchFamily="2" charset="-122"/>
              </a:rPr>
              <a:t>）解：</a:t>
            </a:r>
          </a:p>
        </p:txBody>
      </p:sp>
      <p:graphicFrame>
        <p:nvGraphicFramePr>
          <p:cNvPr id="15362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2927350" y="1341438"/>
          <a:ext cx="612140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76500" imgH="393700" progId="Equation.DSMT4">
                  <p:embed/>
                </p:oleObj>
              </mc:Choice>
              <mc:Fallback>
                <p:oleObj r:id="rId2" imgW="2476500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1341438"/>
                        <a:ext cx="6121400" cy="100806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076575" y="2570163"/>
          <a:ext cx="5114925" cy="320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159000" imgH="1409700" progId="Equation.DSMT4">
                  <p:embed/>
                </p:oleObj>
              </mc:Choice>
              <mc:Fallback>
                <p:oleObj r:id="rId4" imgW="2159000" imgH="1409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6575" y="2570163"/>
                        <a:ext cx="5114925" cy="32099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4" name="图片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0" y="5241925"/>
            <a:ext cx="22479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365" name="直接箭头连接符 5"/>
          <p:cNvCxnSpPr>
            <a:cxnSpLocks noChangeShapeType="1"/>
          </p:cNvCxnSpPr>
          <p:nvPr/>
        </p:nvCxnSpPr>
        <p:spPr bwMode="auto">
          <a:xfrm flipH="1">
            <a:off x="5634038" y="4868863"/>
            <a:ext cx="1254125" cy="911225"/>
          </a:xfrm>
          <a:prstGeom prst="straightConnector1">
            <a:avLst/>
          </a:prstGeom>
          <a:noFill/>
          <a:ln w="38100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3"/>
          <p:cNvSpPr txBox="1">
            <a:spLocks noChangeArrowheads="1"/>
          </p:cNvSpPr>
          <p:nvPr/>
        </p:nvSpPr>
        <p:spPr bwMode="auto">
          <a:xfrm>
            <a:off x="2208213" y="908050"/>
            <a:ext cx="684053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latin typeface="宋体" panose="02010600030101010101" pitchFamily="2" charset="-122"/>
              </a:rPr>
              <a:t>(3)</a:t>
            </a:r>
            <a:r>
              <a:rPr lang="zh-CN" altLang="en-US" sz="2800">
                <a:latin typeface="宋体" panose="02010600030101010101" pitchFamily="2" charset="-122"/>
              </a:rPr>
              <a:t>该放大器是低通放大器</a:t>
            </a:r>
            <a:r>
              <a:rPr lang="en-US" altLang="zh-CN" sz="2800">
                <a:latin typeface="宋体" panose="02010600030101010101" pitchFamily="2" charset="-122"/>
              </a:rPr>
              <a:t>,</a:t>
            </a:r>
            <a:r>
              <a:rPr lang="zh-CN" altLang="en-US" sz="2800">
                <a:latin typeface="宋体" panose="02010600030101010101" pitchFamily="2" charset="-122"/>
              </a:rPr>
              <a:t>其噪声带宽为</a:t>
            </a:r>
          </a:p>
        </p:txBody>
      </p:sp>
      <p:graphicFrame>
        <p:nvGraphicFramePr>
          <p:cNvPr id="16386" name="Object 4"/>
          <p:cNvGraphicFramePr>
            <a:graphicFrameLocks noChangeAspect="1"/>
          </p:cNvGraphicFramePr>
          <p:nvPr/>
        </p:nvGraphicFramePr>
        <p:xfrm>
          <a:off x="2063592" y="1511142"/>
          <a:ext cx="6132830" cy="2545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65400" imgH="939800" progId="Equation.DSMT4">
                  <p:embed/>
                </p:oleObj>
              </mc:Choice>
              <mc:Fallback>
                <p:oleObj r:id="rId3" imgW="2565400" imgH="939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92" y="1511142"/>
                        <a:ext cx="6132830" cy="2545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69990" y="3088005"/>
            <a:ext cx="4543425" cy="22574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2"/>
          <p:cNvSpPr txBox="1">
            <a:spLocks noChangeArrowheads="1"/>
          </p:cNvSpPr>
          <p:nvPr/>
        </p:nvSpPr>
        <p:spPr bwMode="auto">
          <a:xfrm>
            <a:off x="2135188" y="1557338"/>
            <a:ext cx="69119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解：已知微分器的传函：</a:t>
            </a:r>
          </a:p>
        </p:txBody>
      </p:sp>
      <p:graphicFrame>
        <p:nvGraphicFramePr>
          <p:cNvPr id="17410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4367213" y="2349500"/>
          <a:ext cx="20891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6600" imgH="203200" progId="Equation.DSMT4">
                  <p:embed/>
                </p:oleObj>
              </mc:Choice>
              <mc:Fallback>
                <p:oleObj r:id="rId2" imgW="736600" imgH="203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2349500"/>
                        <a:ext cx="2089150" cy="57626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41675" y="4140200"/>
          <a:ext cx="530383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159000" imgH="228600" progId="Equation.DSMT4">
                  <p:embed/>
                </p:oleObj>
              </mc:Choice>
              <mc:Fallback>
                <p:oleObj r:id="rId4" imgW="21590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1675" y="4140200"/>
                        <a:ext cx="5303838" cy="54133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5"/>
          <p:cNvSpPr txBox="1">
            <a:spLocks noChangeArrowheads="1"/>
          </p:cNvSpPr>
          <p:nvPr/>
        </p:nvSpPr>
        <p:spPr bwMode="auto">
          <a:xfrm>
            <a:off x="2208213" y="2997200"/>
            <a:ext cx="568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所以：</a:t>
            </a:r>
          </a:p>
        </p:txBody>
      </p:sp>
      <p:graphicFrame>
        <p:nvGraphicFramePr>
          <p:cNvPr id="17413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41675" y="5052060"/>
          <a:ext cx="5437188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209800" imgH="279400" progId="Equation.DSMT4">
                  <p:embed/>
                </p:oleObj>
              </mc:Choice>
              <mc:Fallback>
                <p:oleObj r:id="rId6" imgW="2209800" imgH="279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1675" y="5052060"/>
                        <a:ext cx="5437188" cy="66198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4" name="图片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93688"/>
            <a:ext cx="9144000" cy="10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2593340" y="4226560"/>
            <a:ext cx="648335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93340" y="5198745"/>
            <a:ext cx="648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2"/>
          <p:cNvSpPr txBox="1">
            <a:spLocks noChangeArrowheads="1"/>
          </p:cNvSpPr>
          <p:nvPr/>
        </p:nvSpPr>
        <p:spPr bwMode="auto">
          <a:xfrm>
            <a:off x="1919288" y="1389063"/>
            <a:ext cx="705643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解：由图可知：</a:t>
            </a:r>
          </a:p>
        </p:txBody>
      </p:sp>
      <p:graphicFrame>
        <p:nvGraphicFramePr>
          <p:cNvPr id="18434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422525" y="2181225"/>
          <a:ext cx="273685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02665" imgH="203200" progId="Equation.DSMT4">
                  <p:embed/>
                </p:oleObj>
              </mc:Choice>
              <mc:Fallback>
                <p:oleObj r:id="rId2" imgW="1002665" imgH="203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2181225"/>
                        <a:ext cx="2736850" cy="55403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422525" y="2973388"/>
          <a:ext cx="4694238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47900" imgH="457200" progId="Equation.DSMT4">
                  <p:embed/>
                </p:oleObj>
              </mc:Choice>
              <mc:Fallback>
                <p:oleObj r:id="rId4" imgW="22479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2973388"/>
                        <a:ext cx="4694238" cy="11080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14688" y="4125913"/>
          <a:ext cx="221932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76300" imgH="228600" progId="Equation.DSMT4">
                  <p:embed/>
                </p:oleObj>
              </mc:Choice>
              <mc:Fallback>
                <p:oleObj r:id="rId6" imgW="8763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4125913"/>
                        <a:ext cx="2219325" cy="55086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Text Box 6"/>
          <p:cNvSpPr txBox="1">
            <a:spLocks noChangeArrowheads="1"/>
          </p:cNvSpPr>
          <p:nvPr/>
        </p:nvSpPr>
        <p:spPr bwMode="auto">
          <a:xfrm>
            <a:off x="2135188" y="4845050"/>
            <a:ext cx="46799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由维纳辛钦定理可得：</a:t>
            </a:r>
          </a:p>
        </p:txBody>
      </p:sp>
      <p:graphicFrame>
        <p:nvGraphicFramePr>
          <p:cNvPr id="18438" name="Object 7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2678113" y="5478463"/>
          <a:ext cx="59150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425700" imgH="393700" progId="Equation.DSMT4">
                  <p:embed/>
                </p:oleObj>
              </mc:Choice>
              <mc:Fallback>
                <p:oleObj r:id="rId8" imgW="24257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13" y="5478463"/>
                        <a:ext cx="5915025" cy="9779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9" name="图片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75" y="41275"/>
            <a:ext cx="91440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图片 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75" y="390525"/>
            <a:ext cx="91440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1" name="图片 6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41" b="4997"/>
          <a:stretch>
            <a:fillRect/>
          </a:stretch>
        </p:blipFill>
        <p:spPr bwMode="auto">
          <a:xfrm>
            <a:off x="7065963" y="1095375"/>
            <a:ext cx="3608387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2"/>
          <p:cNvSpPr txBox="1">
            <a:spLocks noChangeArrowheads="1"/>
          </p:cNvSpPr>
          <p:nvPr/>
        </p:nvSpPr>
        <p:spPr bwMode="auto">
          <a:xfrm>
            <a:off x="1919288" y="1703388"/>
            <a:ext cx="80645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解：由题可知，所求的系统为一白化滤波器，有：</a:t>
            </a:r>
          </a:p>
        </p:txBody>
      </p:sp>
      <p:graphicFrame>
        <p:nvGraphicFramePr>
          <p:cNvPr id="19458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711450" y="2419350"/>
          <a:ext cx="41751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76400" imgH="279400" progId="Equation.DSMT4">
                  <p:embed/>
                </p:oleObj>
              </mc:Choice>
              <mc:Fallback>
                <p:oleObj r:id="rId2" imgW="1676400" imgH="279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2419350"/>
                        <a:ext cx="4175125" cy="6953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351088" y="3316288"/>
          <a:ext cx="2992437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44600" imgH="419100" progId="Equation.DSMT4">
                  <p:embed/>
                </p:oleObj>
              </mc:Choice>
              <mc:Fallback>
                <p:oleObj r:id="rId4" imgW="1244600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316288"/>
                        <a:ext cx="2992437" cy="85248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384800" y="3292475"/>
          <a:ext cx="354012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97000" imgH="469900" progId="Equation.DSMT4">
                  <p:embed/>
                </p:oleObj>
              </mc:Choice>
              <mc:Fallback>
                <p:oleObj r:id="rId6" imgW="1397000" imgH="469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4800" y="3292475"/>
                        <a:ext cx="3540125" cy="9763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Rectangle 6"/>
          <p:cNvSpPr>
            <a:spLocks noChangeArrowheads="1"/>
          </p:cNvSpPr>
          <p:nvPr/>
        </p:nvSpPr>
        <p:spPr bwMode="auto">
          <a:xfrm>
            <a:off x="2060575" y="4306888"/>
            <a:ext cx="82804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</a:rPr>
              <a:t>稳定的最小相位系统的</a:t>
            </a:r>
            <a:r>
              <a:rPr lang="en-US" altLang="zh-CN" sz="2800">
                <a:solidFill>
                  <a:srgbClr val="FF0000"/>
                </a:solidFill>
              </a:rPr>
              <a:t>H(s)</a:t>
            </a:r>
            <a:r>
              <a:rPr lang="zh-CN" altLang="en-US" sz="2800">
                <a:solidFill>
                  <a:srgbClr val="FF0000"/>
                </a:solidFill>
              </a:rPr>
              <a:t>的极点在左半</a:t>
            </a:r>
            <a:r>
              <a:rPr lang="en-US" altLang="zh-CN" sz="2800">
                <a:solidFill>
                  <a:srgbClr val="FF0000"/>
                </a:solidFill>
              </a:rPr>
              <a:t>S</a:t>
            </a:r>
            <a:r>
              <a:rPr lang="zh-CN" altLang="en-US" sz="2800">
                <a:solidFill>
                  <a:srgbClr val="FF0000"/>
                </a:solidFill>
              </a:rPr>
              <a:t>平面，而零点不在右半</a:t>
            </a:r>
            <a:r>
              <a:rPr lang="en-US" altLang="zh-CN" sz="2800">
                <a:solidFill>
                  <a:srgbClr val="FF0000"/>
                </a:solidFill>
              </a:rPr>
              <a:t>S</a:t>
            </a:r>
            <a:r>
              <a:rPr lang="zh-CN" altLang="en-US" sz="2800">
                <a:solidFill>
                  <a:srgbClr val="FF0000"/>
                </a:solidFill>
              </a:rPr>
              <a:t>平面。</a:t>
            </a:r>
          </a:p>
        </p:txBody>
      </p:sp>
      <p:graphicFrame>
        <p:nvGraphicFramePr>
          <p:cNvPr id="19462" name="Object 7"/>
          <p:cNvGraphicFramePr>
            <a:graphicFrameLocks noChangeAspect="1"/>
          </p:cNvGraphicFramePr>
          <p:nvPr/>
        </p:nvGraphicFramePr>
        <p:xfrm>
          <a:off x="3429000" y="5314950"/>
          <a:ext cx="44640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14500" imgH="469900" progId="Equation.DSMT4">
                  <p:embed/>
                </p:oleObj>
              </mc:Choice>
              <mc:Fallback>
                <p:oleObj r:id="rId8" imgW="1714500" imgH="469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314950"/>
                        <a:ext cx="446405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63" name="图片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4925"/>
            <a:ext cx="9144000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8930005" y="3600450"/>
                <a:ext cx="2762250" cy="360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|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𝑯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𝒘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sSup>
                        <m:sSup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𝑯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𝒘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sSup>
                        <m:sSup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𝑯</m:t>
                          </m:r>
                        </m:e>
                        <m:sup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𝒘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b="1" i="1">
                  <a:solidFill>
                    <a:srgbClr val="FF0000"/>
                  </a:solidFill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005" y="3600450"/>
                <a:ext cx="2762250" cy="36068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9251950" y="5671820"/>
            <a:ext cx="830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s=jw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2"/>
          <p:cNvSpPr txBox="1">
            <a:spLocks noChangeArrowheads="1"/>
          </p:cNvSpPr>
          <p:nvPr/>
        </p:nvSpPr>
        <p:spPr bwMode="auto">
          <a:xfrm>
            <a:off x="2063750" y="1741488"/>
            <a:ext cx="770413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解：这是求解一个成形滤波器</a:t>
            </a:r>
          </a:p>
        </p:txBody>
      </p:sp>
      <p:graphicFrame>
        <p:nvGraphicFramePr>
          <p:cNvPr id="2048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566988" y="2605088"/>
          <a:ext cx="3167062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54100" imgH="279400" progId="Equation.DSMT4">
                  <p:embed/>
                </p:oleObj>
              </mc:Choice>
              <mc:Fallback>
                <p:oleObj r:id="rId2" imgW="1054100" imgH="279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605088"/>
                        <a:ext cx="3167062" cy="65881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935413" y="3543300"/>
          <a:ext cx="4824412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108200" imgH="419100" progId="Equation.DSMT4">
                  <p:embed/>
                </p:oleObj>
              </mc:Choice>
              <mc:Fallback>
                <p:oleObj r:id="rId4" imgW="21082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3543300"/>
                        <a:ext cx="4824412" cy="99536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6"/>
          <p:cNvSpPr txBox="1">
            <a:spLocks noChangeArrowheads="1"/>
          </p:cNvSpPr>
          <p:nvPr/>
        </p:nvSpPr>
        <p:spPr bwMode="auto">
          <a:xfrm>
            <a:off x="2135188" y="4694238"/>
            <a:ext cx="6767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选取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稳定的最小相位系统：</a:t>
            </a:r>
          </a:p>
        </p:txBody>
      </p:sp>
      <p:graphicFrame>
        <p:nvGraphicFramePr>
          <p:cNvPr id="2048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634755"/>
              </p:ext>
            </p:extLst>
          </p:nvPr>
        </p:nvGraphicFramePr>
        <p:xfrm>
          <a:off x="3719513" y="5377890"/>
          <a:ext cx="4391025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36700" imgH="419100" progId="Equation.DSMT4">
                  <p:embed/>
                </p:oleObj>
              </mc:Choice>
              <mc:Fallback>
                <p:oleObj r:id="rId6" imgW="1536700" imgH="419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5377890"/>
                        <a:ext cx="4391025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6" name="图片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1450"/>
            <a:ext cx="91440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2"/>
          <p:cNvSpPr txBox="1">
            <a:spLocks noChangeArrowheads="1"/>
          </p:cNvSpPr>
          <p:nvPr/>
        </p:nvSpPr>
        <p:spPr bwMode="auto">
          <a:xfrm>
            <a:off x="1863725" y="1114425"/>
            <a:ext cx="6985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（</a:t>
            </a:r>
            <a:r>
              <a:rPr lang="en-US" altLang="zh-CN" sz="2800">
                <a:latin typeface="宋体" panose="02010600030101010101" pitchFamily="2" charset="-122"/>
              </a:rPr>
              <a:t>1</a:t>
            </a:r>
            <a:r>
              <a:rPr lang="zh-CN" altLang="en-US" sz="2800">
                <a:latin typeface="宋体" panose="02010600030101010101" pitchFamily="2" charset="-122"/>
              </a:rPr>
              <a:t>）解：</a:t>
            </a:r>
          </a:p>
        </p:txBody>
      </p:sp>
      <p:graphicFrame>
        <p:nvGraphicFramePr>
          <p:cNvPr id="2150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697663" y="1150938"/>
          <a:ext cx="240347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39800" imgH="228600" progId="Equation.DSMT4">
                  <p:embed/>
                </p:oleObj>
              </mc:Choice>
              <mc:Fallback>
                <p:oleObj r:id="rId2" imgW="9398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7663" y="1150938"/>
                        <a:ext cx="2403475" cy="6159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6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2747963" y="2663825"/>
          <a:ext cx="5305425" cy="164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184400" imgH="685800" progId="Equation.DSMT4">
                  <p:embed/>
                </p:oleObj>
              </mc:Choice>
              <mc:Fallback>
                <p:oleObj r:id="rId4" imgW="2184400" imgH="685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63" y="2663825"/>
                        <a:ext cx="5305425" cy="164623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Text Box 5"/>
          <p:cNvSpPr txBox="1">
            <a:spLocks noChangeArrowheads="1"/>
          </p:cNvSpPr>
          <p:nvPr/>
        </p:nvSpPr>
        <p:spPr bwMode="auto">
          <a:xfrm>
            <a:off x="2135188" y="1727200"/>
            <a:ext cx="8353425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这是一个一阶</a:t>
            </a:r>
            <a:r>
              <a:rPr lang="en-US" altLang="zh-CN" sz="2800">
                <a:latin typeface="宋体" panose="02010600030101010101" pitchFamily="2" charset="-122"/>
              </a:rPr>
              <a:t>MA</a:t>
            </a:r>
            <a:r>
              <a:rPr lang="zh-CN" altLang="en-US" sz="2800">
                <a:latin typeface="宋体" panose="02010600030101010101" pitchFamily="2" charset="-122"/>
              </a:rPr>
              <a:t>过程，该过程输出的自相关函数满足下列方程</a:t>
            </a:r>
            <a:r>
              <a:rPr lang="en-US" altLang="zh-CN" sz="2800"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21509" name="Text Box 7"/>
          <p:cNvSpPr txBox="1">
            <a:spLocks noChangeArrowheads="1"/>
          </p:cNvSpPr>
          <p:nvPr/>
        </p:nvSpPr>
        <p:spPr bwMode="auto">
          <a:xfrm>
            <a:off x="2100263" y="4391025"/>
            <a:ext cx="741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该方程可参考教材</a:t>
            </a:r>
            <a:r>
              <a:rPr lang="en-US" altLang="zh-CN" sz="2800">
                <a:latin typeface="宋体" panose="02010600030101010101" pitchFamily="2" charset="-122"/>
              </a:rPr>
              <a:t>107</a:t>
            </a:r>
            <a:r>
              <a:rPr lang="zh-CN" altLang="en-US" sz="2800">
                <a:latin typeface="宋体" panose="02010600030101010101" pitchFamily="2" charset="-122"/>
              </a:rPr>
              <a:t>页式（</a:t>
            </a:r>
            <a:r>
              <a:rPr lang="en-US" altLang="zh-CN" sz="2800">
                <a:latin typeface="宋体" panose="02010600030101010101" pitchFamily="2" charset="-122"/>
              </a:rPr>
              <a:t>5.5.5</a:t>
            </a:r>
            <a:r>
              <a:rPr lang="zh-CN" altLang="en-US" sz="2800">
                <a:latin typeface="宋体" panose="02010600030101010101" pitchFamily="2" charset="-122"/>
              </a:rPr>
              <a:t>）</a:t>
            </a:r>
          </a:p>
        </p:txBody>
      </p:sp>
      <p:graphicFrame>
        <p:nvGraphicFramePr>
          <p:cNvPr id="21510" name="Object 1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932238" y="5784850"/>
          <a:ext cx="52562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298700" imgH="393700" progId="Equation.DSMT4">
                  <p:embed/>
                </p:oleObj>
              </mc:Choice>
              <mc:Fallback>
                <p:oleObj r:id="rId6" imgW="2298700" imgH="3937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8" y="5784850"/>
                        <a:ext cx="5256212" cy="9017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15"/>
          <p:cNvSpPr>
            <a:spLocks noChangeArrowheads="1"/>
          </p:cNvSpPr>
          <p:nvPr/>
        </p:nvSpPr>
        <p:spPr bwMode="auto">
          <a:xfrm>
            <a:off x="2132013" y="5927725"/>
            <a:ext cx="25209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/>
              <a:t>可以算出：</a:t>
            </a:r>
          </a:p>
        </p:txBody>
      </p:sp>
      <p:sp>
        <p:nvSpPr>
          <p:cNvPr id="21512" name="Text Box 16"/>
          <p:cNvSpPr txBox="1">
            <a:spLocks noChangeArrowheads="1"/>
          </p:cNvSpPr>
          <p:nvPr/>
        </p:nvSpPr>
        <p:spPr bwMode="auto">
          <a:xfrm>
            <a:off x="2100263" y="5113338"/>
            <a:ext cx="80645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输入随机序列在</a:t>
            </a:r>
            <a:r>
              <a:rPr lang="en-US" altLang="zh-CN" sz="2800">
                <a:latin typeface="宋体" panose="02010600030101010101" pitchFamily="2" charset="-122"/>
              </a:rPr>
              <a:t>-1</a:t>
            </a:r>
            <a:r>
              <a:rPr lang="zh-CN" altLang="en-US" sz="2800">
                <a:latin typeface="宋体" panose="02010600030101010101" pitchFamily="2" charset="-122"/>
              </a:rPr>
              <a:t>到</a:t>
            </a:r>
            <a:r>
              <a:rPr lang="en-US" altLang="zh-CN" sz="2800">
                <a:latin typeface="宋体" panose="02010600030101010101" pitchFamily="2" charset="-122"/>
              </a:rPr>
              <a:t>1</a:t>
            </a:r>
            <a:r>
              <a:rPr lang="zh-CN" altLang="en-US" sz="2800">
                <a:latin typeface="宋体" panose="02010600030101010101" pitchFamily="2" charset="-122"/>
              </a:rPr>
              <a:t>间均匀分布，所以：</a:t>
            </a:r>
          </a:p>
        </p:txBody>
      </p:sp>
      <p:graphicFrame>
        <p:nvGraphicFramePr>
          <p:cNvPr id="21513" name="Object 17"/>
          <p:cNvGraphicFramePr>
            <a:graphicFrameLocks noChangeAspect="1"/>
          </p:cNvGraphicFramePr>
          <p:nvPr/>
        </p:nvGraphicFramePr>
        <p:xfrm>
          <a:off x="8796338" y="4824413"/>
          <a:ext cx="12954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82600" imgH="393700" progId="Equation.DSMT4">
                  <p:embed/>
                </p:oleObj>
              </mc:Choice>
              <mc:Fallback>
                <p:oleObj r:id="rId8" imgW="482600" imgH="3937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6338" y="4824413"/>
                        <a:ext cx="129540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14" name="图片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8" y="30163"/>
            <a:ext cx="9017000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9101455" y="3118485"/>
                <a:ext cx="254952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𝟏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=−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𝟏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𝒒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𝟏</m:t>
                      </m:r>
                    </m:oMath>
                  </m:oMathPara>
                </a14:m>
                <a:endParaRPr lang="en-US" altLang="zh-CN" b="1" i="1">
                  <a:solidFill>
                    <a:srgbClr val="FF0000"/>
                  </a:solidFill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455" y="3118485"/>
                <a:ext cx="2549525" cy="36830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8569325" y="3657600"/>
                <a:ext cx="3277870" cy="87249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𝑮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𝒘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𝑹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𝒋𝒘𝒌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b="1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325" y="3657600"/>
                <a:ext cx="3277870" cy="87249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2"/>
          <p:cNvSpPr txBox="1">
            <a:spLocks noChangeArrowheads="1"/>
          </p:cNvSpPr>
          <p:nvPr/>
        </p:nvSpPr>
        <p:spPr bwMode="auto">
          <a:xfrm>
            <a:off x="1919288" y="836613"/>
            <a:ext cx="590391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3200" b="0">
              <a:latin typeface="Arial" panose="020B0604020202020204" pitchFamily="34" charset="0"/>
            </a:endParaRPr>
          </a:p>
        </p:txBody>
      </p:sp>
      <p:sp>
        <p:nvSpPr>
          <p:cNvPr id="23554" name="Text Box 3"/>
          <p:cNvSpPr txBox="1">
            <a:spLocks noChangeArrowheads="1"/>
          </p:cNvSpPr>
          <p:nvPr/>
        </p:nvSpPr>
        <p:spPr bwMode="auto">
          <a:xfrm>
            <a:off x="2063750" y="404813"/>
            <a:ext cx="691197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3200" b="0">
              <a:latin typeface="Arial" panose="020B0604020202020204" pitchFamily="34" charset="0"/>
            </a:endParaRPr>
          </a:p>
        </p:txBody>
      </p:sp>
      <p:graphicFrame>
        <p:nvGraphicFramePr>
          <p:cNvPr id="23555" name="Object 9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3071813" y="620713"/>
          <a:ext cx="5710237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98700" imgH="393700" progId="Equation.DSMT4">
                  <p:embed/>
                </p:oleObj>
              </mc:Choice>
              <mc:Fallback>
                <p:oleObj r:id="rId2" imgW="2298700" imgH="3937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620713"/>
                        <a:ext cx="5710237" cy="94138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Text Box 10"/>
          <p:cNvSpPr txBox="1">
            <a:spLocks noChangeArrowheads="1"/>
          </p:cNvSpPr>
          <p:nvPr/>
        </p:nvSpPr>
        <p:spPr bwMode="auto">
          <a:xfrm>
            <a:off x="2208213" y="1989138"/>
            <a:ext cx="568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功率谱为：</a:t>
            </a:r>
          </a:p>
        </p:txBody>
      </p:sp>
      <p:graphicFrame>
        <p:nvGraphicFramePr>
          <p:cNvPr id="23557" name="Object 11"/>
          <p:cNvGraphicFramePr>
            <a:graphicFrameLocks noChangeAspect="1"/>
          </p:cNvGraphicFramePr>
          <p:nvPr/>
        </p:nvGraphicFramePr>
        <p:xfrm>
          <a:off x="2711450" y="2997200"/>
          <a:ext cx="633730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87600" imgH="431800" progId="Equation.DSMT4">
                  <p:embed/>
                </p:oleObj>
              </mc:Choice>
              <mc:Fallback>
                <p:oleObj r:id="rId4" imgW="2387600" imgH="431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2997200"/>
                        <a:ext cx="6337300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767455" y="4891405"/>
                <a:ext cx="4064000" cy="872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𝑮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𝒘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𝑹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𝒋𝒘𝒌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b="1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455" y="4891405"/>
                <a:ext cx="4064000" cy="87249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2"/>
          <p:cNvSpPr txBox="1">
            <a:spLocks noChangeArrowheads="1"/>
          </p:cNvSpPr>
          <p:nvPr/>
        </p:nvSpPr>
        <p:spPr bwMode="auto">
          <a:xfrm>
            <a:off x="1992313" y="333375"/>
            <a:ext cx="568801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（</a:t>
            </a:r>
            <a:r>
              <a:rPr lang="en-US" altLang="zh-CN" sz="2800">
                <a:latin typeface="宋体" panose="02010600030101010101" pitchFamily="2" charset="-122"/>
              </a:rPr>
              <a:t>2</a:t>
            </a:r>
            <a:r>
              <a:rPr lang="zh-CN" altLang="en-US" sz="2800">
                <a:latin typeface="宋体" panose="02010600030101010101" pitchFamily="2" charset="-122"/>
              </a:rPr>
              <a:t>）</a:t>
            </a:r>
            <a:r>
              <a:rPr lang="zh-CN" altLang="en-US" sz="3200" b="0">
                <a:latin typeface="宋体" panose="02010600030101010101" pitchFamily="2" charset="-122"/>
              </a:rPr>
              <a:t>解</a:t>
            </a:r>
            <a:r>
              <a:rPr lang="zh-CN" altLang="en-US" sz="3200">
                <a:latin typeface="宋体" panose="02010600030101010101" pitchFamily="2" charset="-122"/>
              </a:rPr>
              <a:t>：</a:t>
            </a:r>
          </a:p>
        </p:txBody>
      </p:sp>
      <p:graphicFrame>
        <p:nvGraphicFramePr>
          <p:cNvPr id="2560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792538" y="404813"/>
          <a:ext cx="388778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35100" imgH="228600" progId="Equation.DSMT4">
                  <p:embed/>
                </p:oleObj>
              </mc:Choice>
              <mc:Fallback>
                <p:oleObj r:id="rId2" imgW="14351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404813"/>
                        <a:ext cx="3887787" cy="6191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51088" y="1916113"/>
          <a:ext cx="741362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832100" imgH="393700" progId="Equation.DSMT4">
                  <p:embed/>
                </p:oleObj>
              </mc:Choice>
              <mc:Fallback>
                <p:oleObj r:id="rId4" imgW="28321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1916113"/>
                        <a:ext cx="7413625" cy="98901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Text Box 6"/>
          <p:cNvSpPr txBox="1">
            <a:spLocks noChangeArrowheads="1"/>
          </p:cNvSpPr>
          <p:nvPr/>
        </p:nvSpPr>
        <p:spPr bwMode="auto">
          <a:xfrm>
            <a:off x="2495550" y="1268413"/>
            <a:ext cx="597693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0">
                <a:latin typeface="Arial" panose="020B0604020202020204" pitchFamily="34" charset="0"/>
              </a:rPr>
              <a:t>这是一个二阶</a:t>
            </a:r>
            <a:r>
              <a:rPr lang="en-US" altLang="zh-CN" sz="3200" b="0">
                <a:latin typeface="Arial" panose="020B0604020202020204" pitchFamily="34" charset="0"/>
              </a:rPr>
              <a:t>MA</a:t>
            </a:r>
            <a:r>
              <a:rPr lang="zh-CN" altLang="en-US" sz="3200" b="0">
                <a:latin typeface="Arial" panose="020B0604020202020204" pitchFamily="34" charset="0"/>
              </a:rPr>
              <a:t>过程</a:t>
            </a:r>
          </a:p>
        </p:txBody>
      </p:sp>
      <p:graphicFrame>
        <p:nvGraphicFramePr>
          <p:cNvPr id="25605" name="Object 7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3216275" y="3357563"/>
          <a:ext cx="3400425" cy="234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82700" imgH="1117600" progId="Equation.DSMT4">
                  <p:embed/>
                </p:oleObj>
              </mc:Choice>
              <mc:Fallback>
                <p:oleObj r:id="rId6" imgW="1282700" imgH="1117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357563"/>
                        <a:ext cx="3400425" cy="234473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5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2782888" y="1412875"/>
          <a:ext cx="6624637" cy="374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54300" imgH="1473200" progId="Equation.DSMT4">
                  <p:embed/>
                </p:oleObj>
              </mc:Choice>
              <mc:Fallback>
                <p:oleObj r:id="rId2" imgW="2654300" imgH="1473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1412875"/>
                        <a:ext cx="6624637" cy="37449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6" name="Text Box 3"/>
          <p:cNvSpPr txBox="1">
            <a:spLocks noChangeArrowheads="1"/>
          </p:cNvSpPr>
          <p:nvPr/>
        </p:nvSpPr>
        <p:spPr bwMode="auto">
          <a:xfrm>
            <a:off x="2208213" y="476250"/>
            <a:ext cx="72009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3200" b="0">
              <a:latin typeface="Arial" panose="020B0604020202020204" pitchFamily="34" charset="0"/>
            </a:endParaRPr>
          </a:p>
        </p:txBody>
      </p:sp>
      <p:sp>
        <p:nvSpPr>
          <p:cNvPr id="26627" name="Text Box 4"/>
          <p:cNvSpPr txBox="1">
            <a:spLocks noChangeArrowheads="1"/>
          </p:cNvSpPr>
          <p:nvPr/>
        </p:nvSpPr>
        <p:spPr bwMode="auto">
          <a:xfrm>
            <a:off x="2135188" y="476250"/>
            <a:ext cx="7704137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0">
                <a:latin typeface="Arial" panose="020B0604020202020204" pitchFamily="34" charset="0"/>
              </a:rPr>
              <a:t>可求得功率谱为：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2"/>
          <p:cNvSpPr txBox="1">
            <a:spLocks noChangeArrowheads="1"/>
          </p:cNvSpPr>
          <p:nvPr/>
        </p:nvSpPr>
        <p:spPr bwMode="auto">
          <a:xfrm>
            <a:off x="2063750" y="404813"/>
            <a:ext cx="640873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（</a:t>
            </a:r>
            <a:r>
              <a:rPr lang="en-US" altLang="zh-CN" sz="2800">
                <a:latin typeface="宋体" panose="02010600030101010101" pitchFamily="2" charset="-122"/>
              </a:rPr>
              <a:t>3</a:t>
            </a:r>
            <a:r>
              <a:rPr lang="zh-CN" altLang="en-US" sz="2800">
                <a:latin typeface="宋体" panose="02010600030101010101" pitchFamily="2" charset="-122"/>
              </a:rPr>
              <a:t>）解法</a:t>
            </a:r>
            <a:r>
              <a:rPr lang="en-US" altLang="zh-CN" sz="2800">
                <a:latin typeface="宋体" panose="02010600030101010101" pitchFamily="2" charset="-122"/>
              </a:rPr>
              <a:t>1</a:t>
            </a:r>
            <a:r>
              <a:rPr lang="zh-CN" altLang="en-US" sz="2800">
                <a:latin typeface="宋体" panose="02010600030101010101" pitchFamily="2" charset="-122"/>
              </a:rPr>
              <a:t>：</a:t>
            </a:r>
          </a:p>
        </p:txBody>
      </p:sp>
      <p:graphicFrame>
        <p:nvGraphicFramePr>
          <p:cNvPr id="2765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151313" y="549275"/>
          <a:ext cx="3529012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78865" imgH="393700" progId="Equation.DSMT4">
                  <p:embed/>
                </p:oleObj>
              </mc:Choice>
              <mc:Fallback>
                <p:oleObj r:id="rId2" imgW="1078865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549275"/>
                        <a:ext cx="3529012" cy="120173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5"/>
          <p:cNvSpPr txBox="1">
            <a:spLocks noChangeArrowheads="1"/>
          </p:cNvSpPr>
          <p:nvPr/>
        </p:nvSpPr>
        <p:spPr bwMode="auto">
          <a:xfrm>
            <a:off x="2208213" y="1773238"/>
            <a:ext cx="81788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这是一个一阶</a:t>
            </a:r>
            <a:r>
              <a:rPr lang="en-US" altLang="zh-CN" sz="2800">
                <a:latin typeface="Arial" panose="020B0604020202020204" pitchFamily="34" charset="0"/>
              </a:rPr>
              <a:t>AR</a:t>
            </a:r>
            <a:r>
              <a:rPr lang="zh-CN" altLang="en-US" sz="2800">
                <a:latin typeface="Arial" panose="020B0604020202020204" pitchFamily="34" charset="0"/>
              </a:rPr>
              <a:t>过程，输出的自相关函数可由</a:t>
            </a:r>
            <a:r>
              <a:rPr lang="en-US" altLang="zh-CN" sz="2800">
                <a:latin typeface="Arial" panose="020B0604020202020204" pitchFamily="34" charset="0"/>
              </a:rPr>
              <a:t>Yule-Walker</a:t>
            </a:r>
            <a:r>
              <a:rPr lang="zh-CN" altLang="en-US" sz="2800">
                <a:latin typeface="Arial" panose="020B0604020202020204" pitchFamily="34" charset="0"/>
              </a:rPr>
              <a:t>方程表示为：</a:t>
            </a:r>
          </a:p>
        </p:txBody>
      </p:sp>
      <p:graphicFrame>
        <p:nvGraphicFramePr>
          <p:cNvPr id="27652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036888" y="3249613"/>
          <a:ext cx="5237162" cy="228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30400" imgH="914400" progId="Equation.DSMT4">
                  <p:embed/>
                </p:oleObj>
              </mc:Choice>
              <mc:Fallback>
                <p:oleObj r:id="rId4" imgW="1930400" imgH="914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8" y="3249613"/>
                        <a:ext cx="5237162" cy="228758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030271" y="711454"/>
                <a:ext cx="2265045" cy="8807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𝐲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𝐧</m:t>
                          </m:r>
                        </m:sub>
                      </m:sSub>
                      <m:r>
                        <a:rPr lang="en-US" altLang="zh-CN" b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b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𝐢</m:t>
                          </m:r>
                          <m:r>
                            <a:rPr lang="en-US" altLang="zh-CN" b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b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𝐩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en-US" altLang="zh-CN" b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𝐢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lang="en-US" altLang="zh-CN" b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𝐧</m:t>
                              </m:r>
                              <m:r>
                                <a:rPr lang="en-US" altLang="zh-CN" b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b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���</m:t>
                              </m:r>
                            </m:sub>
                          </m:sSub>
                          <m:r>
                            <a:rPr lang="en-US" altLang="zh-CN" b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𝐧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b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271" y="711454"/>
                <a:ext cx="2265045" cy="880745"/>
              </a:xfrm>
              <a:prstGeom prst="rect">
                <a:avLst/>
              </a:prstGeom>
              <a:blipFill rotWithShape="1">
                <a:blip r:embed="rId6"/>
                <a:stretch>
                  <a:fillRect l="-25" t="-29" r="25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10095230" y="4351020"/>
            <a:ext cx="1292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P109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3" name="Object 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826770" y="1563053"/>
          <a:ext cx="4402138" cy="232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87500" imgH="838200" progId="Equation.DSMT4">
                  <p:embed/>
                </p:oleObj>
              </mc:Choice>
              <mc:Fallback>
                <p:oleObj r:id="rId2" imgW="1587500" imgH="838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770" y="1563053"/>
                        <a:ext cx="4402138" cy="23241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4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98208" y="483553"/>
          <a:ext cx="5834062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03400" imgH="393700" progId="Equation.DSMT4">
                  <p:embed/>
                </p:oleObj>
              </mc:Choice>
              <mc:Fallback>
                <p:oleObj r:id="rId4" imgW="1803400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208" y="483553"/>
                        <a:ext cx="5834062" cy="119856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4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550545" y="4112578"/>
          <a:ext cx="6529388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209800" imgH="228600" progId="Equation.DSMT4">
                  <p:embed/>
                </p:oleObj>
              </mc:Choice>
              <mc:Fallback>
                <p:oleObj r:id="rId6" imgW="22098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545" y="4112578"/>
                        <a:ext cx="6529388" cy="65246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5"/>
          <p:cNvGraphicFramePr>
            <a:graphicFrameLocks noChangeAspect="1"/>
          </p:cNvGraphicFramePr>
          <p:nvPr/>
        </p:nvGraphicFramePr>
        <p:xfrm>
          <a:off x="1979295" y="4803140"/>
          <a:ext cx="3527425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80465" imgH="393700" progId="Equation.DSMT4">
                  <p:embed/>
                </p:oleObj>
              </mc:Choice>
              <mc:Fallback>
                <p:oleObj r:id="rId8" imgW="1180465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295" y="4803140"/>
                        <a:ext cx="3527425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7223760" y="3744595"/>
            <a:ext cx="4552950" cy="2068830"/>
            <a:chOff x="11874" y="6286"/>
            <a:chExt cx="7170" cy="32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11874" y="7264"/>
                  <a:ext cx="7171" cy="2281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𝑹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)=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𝒂𝑹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𝑹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)=(−</m:t>
                              </m:r>
                              <m:f>
                                <m:fPr>
                                  <m:ctrlP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𝑹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)=(−</m:t>
                              </m:r>
                              <m:f>
                                <m:fPr>
                                  <m:ctrlP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𝟐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𝑹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𝟐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)=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𝑹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)=(−</m:t>
                              </m:r>
                              <m:f>
                                <m:fPr>
                                  <m:ctrlP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𝟐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𝒌</m:t>
                                  </m:r>
                                </m:sup>
                              </m:sSup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𝑹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𝟎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) 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US" altLang="zh-CN" b="1" i="1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74" y="7264"/>
                  <a:ext cx="7171" cy="2281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本框 7"/>
            <p:cNvSpPr txBox="1"/>
            <p:nvPr/>
          </p:nvSpPr>
          <p:spPr>
            <a:xfrm>
              <a:off x="14892" y="6286"/>
              <a:ext cx="113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P108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679690" y="942340"/>
            <a:ext cx="3887470" cy="2343785"/>
            <a:chOff x="12190" y="1812"/>
            <a:chExt cx="6122" cy="3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12666" y="1812"/>
                  <a:ext cx="4975" cy="978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𝑹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𝟎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𝑹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𝑹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𝑹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𝟎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mPr>
                              <m:mr>
                                <m:e>
                                  <m:sSubSup>
                                    <m:sSubSupPr>
                                      <m:ctrlPr>
                                        <a:rPr lang="en-US" altLang="zh-CN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Cambria Math" panose="0204050305040603020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𝝈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𝒙</m:t>
                                      </m:r>
                                    </m:sub>
                                    <m:sup>
                                      <m:r>
                                        <a:rPr lang="en-US" altLang="zh-CN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𝟐</m:t>
                                      </m:r>
                                    </m:sup>
                                  </m:sSubSup>
                                </m:e>
                              </m:mr>
                              <m:m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𝟎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altLang="zh-CN" b="1" i="1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66" y="1812"/>
                  <a:ext cx="4975" cy="978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/>
                <p:cNvSpPr txBox="1"/>
                <p:nvPr/>
              </p:nvSpPr>
              <p:spPr>
                <a:xfrm>
                  <a:off x="12190" y="3011"/>
                  <a:ext cx="6122" cy="1317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𝑹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𝟎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𝑹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𝑹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𝑹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𝟎</m:t>
                                  </m:r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𝟏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Cambria Math" panose="0204050305040603020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CN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lang="en-US" altLang="zh-CN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Cambria Math" panose="0204050305040603020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CN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𝟑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>
                                  <m:r>
                                    <a:rPr lang="en-US" altLang="zh-CN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𝟎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altLang="zh-CN" b="1" i="1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0" y="3011"/>
                  <a:ext cx="6122" cy="1317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/>
                <p:cNvSpPr txBox="1"/>
                <p:nvPr/>
              </p:nvSpPr>
              <p:spPr>
                <a:xfrm>
                  <a:off x="13405" y="4549"/>
                  <a:ext cx="3304" cy="95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𝑹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𝟎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)=</m:t>
                        </m:r>
                        <m:f>
                          <m:f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𝟒</m:t>
                            </m:r>
                          </m:num>
                          <m:den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𝟗</m:t>
                            </m:r>
                          </m:den>
                        </m:f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𝑹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)=</m:t>
                        </m:r>
                        <m:f>
                          <m:f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𝟐</m:t>
                            </m:r>
                          </m:num>
                          <m:den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𝟗</m:t>
                            </m:r>
                          </m:den>
                        </m:f>
                      </m:oMath>
                    </m:oMathPara>
                  </a14:m>
                  <a:endParaRPr lang="en-US" altLang="zh-CN" b="1" i="1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05" y="4549"/>
                  <a:ext cx="3304" cy="954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2"/>
          <p:cNvSpPr txBox="1">
            <a:spLocks noChangeArrowheads="1"/>
          </p:cNvSpPr>
          <p:nvPr/>
        </p:nvSpPr>
        <p:spPr bwMode="auto">
          <a:xfrm>
            <a:off x="1992313" y="692150"/>
            <a:ext cx="460851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0">
                <a:latin typeface="Arial" panose="020B0604020202020204" pitchFamily="34" charset="0"/>
              </a:rPr>
              <a:t>功率谱密度为：</a:t>
            </a:r>
          </a:p>
        </p:txBody>
      </p:sp>
      <p:graphicFrame>
        <p:nvGraphicFramePr>
          <p:cNvPr id="29698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424113" y="1628775"/>
          <a:ext cx="7718425" cy="357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67000" imgH="1282700" progId="Equation.DSMT4">
                  <p:embed/>
                </p:oleObj>
              </mc:Choice>
              <mc:Fallback>
                <p:oleObj r:id="rId2" imgW="2667000" imgH="1282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1628775"/>
                        <a:ext cx="7718425" cy="357663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2"/>
          <p:cNvSpPr txBox="1">
            <a:spLocks noChangeArrowheads="1"/>
          </p:cNvSpPr>
          <p:nvPr/>
        </p:nvSpPr>
        <p:spPr bwMode="auto">
          <a:xfrm>
            <a:off x="2135188" y="333375"/>
            <a:ext cx="82089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解法二：先计算功率谱，再得到自相关函数</a:t>
            </a:r>
          </a:p>
        </p:txBody>
      </p:sp>
      <p:graphicFrame>
        <p:nvGraphicFramePr>
          <p:cNvPr id="30722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935413" y="908050"/>
          <a:ext cx="3529012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78865" imgH="393700" progId="Equation.DSMT4">
                  <p:embed/>
                </p:oleObj>
              </mc:Choice>
              <mc:Fallback>
                <p:oleObj r:id="rId2" imgW="1078865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908050"/>
                        <a:ext cx="3529012" cy="122396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648075" y="2781300"/>
          <a:ext cx="483235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14500" imgH="393700" progId="Equation.DSMT4">
                  <p:embed/>
                </p:oleObj>
              </mc:Choice>
              <mc:Fallback>
                <p:oleObj r:id="rId4" imgW="17145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2781300"/>
                        <a:ext cx="4832350" cy="9810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Text Box 5"/>
          <p:cNvSpPr txBox="1">
            <a:spLocks noChangeArrowheads="1"/>
          </p:cNvSpPr>
          <p:nvPr/>
        </p:nvSpPr>
        <p:spPr bwMode="auto">
          <a:xfrm>
            <a:off x="2135188" y="2133600"/>
            <a:ext cx="62658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对方程两边作</a:t>
            </a:r>
            <a:r>
              <a:rPr lang="en-US" altLang="zh-CN" sz="2800">
                <a:latin typeface="宋体" panose="02010600030101010101" pitchFamily="2" charset="-122"/>
              </a:rPr>
              <a:t>Z</a:t>
            </a:r>
            <a:r>
              <a:rPr lang="zh-CN" altLang="en-US" sz="2800">
                <a:latin typeface="宋体" panose="02010600030101010101" pitchFamily="2" charset="-122"/>
              </a:rPr>
              <a:t>变换有：</a:t>
            </a:r>
          </a:p>
        </p:txBody>
      </p:sp>
      <p:sp>
        <p:nvSpPr>
          <p:cNvPr id="30725" name="Text Box 6"/>
          <p:cNvSpPr txBox="1">
            <a:spLocks noChangeArrowheads="1"/>
          </p:cNvSpPr>
          <p:nvPr/>
        </p:nvSpPr>
        <p:spPr bwMode="auto">
          <a:xfrm>
            <a:off x="2208213" y="3789363"/>
            <a:ext cx="54006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得传函为：</a:t>
            </a:r>
          </a:p>
        </p:txBody>
      </p:sp>
      <p:graphicFrame>
        <p:nvGraphicFramePr>
          <p:cNvPr id="30726" name="Object 7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3648075" y="4365625"/>
          <a:ext cx="4608513" cy="206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76400" imgH="838200" progId="Equation.DSMT4">
                  <p:embed/>
                </p:oleObj>
              </mc:Choice>
              <mc:Fallback>
                <p:oleObj r:id="rId6" imgW="1676400" imgH="838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4365625"/>
                        <a:ext cx="4608513" cy="206533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ext Box 2"/>
          <p:cNvSpPr txBox="1">
            <a:spLocks noChangeArrowheads="1"/>
          </p:cNvSpPr>
          <p:nvPr/>
        </p:nvSpPr>
        <p:spPr bwMode="auto">
          <a:xfrm>
            <a:off x="2135188" y="404813"/>
            <a:ext cx="83534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输入和系统传函知道了，就可得到输出的功率谱：</a:t>
            </a:r>
          </a:p>
        </p:txBody>
      </p:sp>
      <p:graphicFrame>
        <p:nvGraphicFramePr>
          <p:cNvPr id="31746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2927350" y="1052513"/>
          <a:ext cx="583247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25700" imgH="711200" progId="Equation.DSMT4">
                  <p:embed/>
                </p:oleObj>
              </mc:Choice>
              <mc:Fallback>
                <p:oleObj r:id="rId2" imgW="2425700" imgH="71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1052513"/>
                        <a:ext cx="5832475" cy="18002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Text Box 4"/>
          <p:cNvSpPr txBox="1">
            <a:spLocks noChangeArrowheads="1"/>
          </p:cNvSpPr>
          <p:nvPr/>
        </p:nvSpPr>
        <p:spPr bwMode="auto">
          <a:xfrm>
            <a:off x="2208213" y="3284538"/>
            <a:ext cx="18716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由变换对</a:t>
            </a:r>
            <a:r>
              <a:rPr lang="en-US" altLang="zh-CN" sz="2800"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31748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4224338" y="2997200"/>
          <a:ext cx="5576887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19300" imgH="444500" progId="Equation.DSMT4">
                  <p:embed/>
                </p:oleObj>
              </mc:Choice>
              <mc:Fallback>
                <p:oleObj r:id="rId4" imgW="2019300" imgH="4445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2997200"/>
                        <a:ext cx="5576887" cy="117633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Text Box 7"/>
          <p:cNvSpPr txBox="1">
            <a:spLocks noChangeArrowheads="1"/>
          </p:cNvSpPr>
          <p:nvPr/>
        </p:nvSpPr>
        <p:spPr bwMode="auto">
          <a:xfrm>
            <a:off x="2208213" y="4724400"/>
            <a:ext cx="15843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可得：</a:t>
            </a:r>
          </a:p>
        </p:txBody>
      </p:sp>
      <p:graphicFrame>
        <p:nvGraphicFramePr>
          <p:cNvPr id="31750" name="Object 8"/>
          <p:cNvGraphicFramePr>
            <a:graphicFrameLocks noChangeAspect="1"/>
          </p:cNvGraphicFramePr>
          <p:nvPr/>
        </p:nvGraphicFramePr>
        <p:xfrm>
          <a:off x="3648075" y="4508500"/>
          <a:ext cx="5711825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019300" imgH="431800" progId="Equation.DSMT4">
                  <p:embed/>
                </p:oleObj>
              </mc:Choice>
              <mc:Fallback>
                <p:oleObj r:id="rId6" imgW="20193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4508500"/>
                        <a:ext cx="5711825" cy="1208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2"/>
          <p:cNvSpPr txBox="1">
            <a:spLocks noChangeArrowheads="1"/>
          </p:cNvSpPr>
          <p:nvPr/>
        </p:nvSpPr>
        <p:spPr bwMode="auto">
          <a:xfrm>
            <a:off x="1919288" y="1844675"/>
            <a:ext cx="6985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解：由题可知</a:t>
            </a:r>
          </a:p>
        </p:txBody>
      </p:sp>
      <p:graphicFrame>
        <p:nvGraphicFramePr>
          <p:cNvPr id="32770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4727575" y="1744663"/>
          <a:ext cx="4392613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59865" imgH="279400" progId="Equation.DSMT4">
                  <p:embed/>
                </p:oleObj>
              </mc:Choice>
              <mc:Fallback>
                <p:oleObj r:id="rId2" imgW="1459865" imgH="279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1744663"/>
                        <a:ext cx="4392613" cy="71913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432175" y="2968625"/>
          <a:ext cx="428307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00200" imgH="393700" progId="Equation.DSMT4">
                  <p:embed/>
                </p:oleObj>
              </mc:Choice>
              <mc:Fallback>
                <p:oleObj r:id="rId4" imgW="16002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2968625"/>
                        <a:ext cx="4283075" cy="101123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065713" y="3946525"/>
          <a:ext cx="8826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9700" imgH="203200" progId="Equation.DSMT4">
                  <p:embed/>
                </p:oleObj>
              </mc:Choice>
              <mc:Fallback>
                <p:oleObj r:id="rId6" imgW="139700" imgH="20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713" y="3946525"/>
                        <a:ext cx="882650" cy="7874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Text Box 6"/>
          <p:cNvSpPr txBox="1">
            <a:spLocks noChangeArrowheads="1"/>
          </p:cNvSpPr>
          <p:nvPr/>
        </p:nvSpPr>
        <p:spPr bwMode="auto">
          <a:xfrm>
            <a:off x="1919288" y="2708275"/>
            <a:ext cx="38163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得到：</a:t>
            </a:r>
          </a:p>
        </p:txBody>
      </p:sp>
      <p:graphicFrame>
        <p:nvGraphicFramePr>
          <p:cNvPr id="32774" name="Object 7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3432175" y="4537075"/>
          <a:ext cx="5237163" cy="189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082800" imgH="838200" progId="Equation.DSMT4">
                  <p:embed/>
                </p:oleObj>
              </mc:Choice>
              <mc:Fallback>
                <p:oleObj r:id="rId8" imgW="2082800" imgH="838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4537075"/>
                        <a:ext cx="5237163" cy="18986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775" name="图片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7" y="25400"/>
            <a:ext cx="9144001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8239760" y="3522345"/>
                <a:ext cx="3173730" cy="369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𝟏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𝟔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𝒄𝒐𝒔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𝝎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𝟎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𝟖</m:t>
                      </m:r>
                      <m:sSup>
                        <m:sSup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𝒋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sup>
                      </m:sSup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𝟎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𝟖</m:t>
                      </m:r>
                      <m:sSup>
                        <m:sSup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𝒋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sup>
                      </m:sSup>
                    </m:oMath>
                  </m:oMathPara>
                </a14:m>
                <a:endParaRPr lang="en-US" altLang="zh-CN" b="1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760" y="3522345"/>
                <a:ext cx="3173730" cy="36957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2"/>
          <p:cNvSpPr txBox="1">
            <a:spLocks noChangeArrowheads="1"/>
          </p:cNvSpPr>
          <p:nvPr/>
        </p:nvSpPr>
        <p:spPr bwMode="auto">
          <a:xfrm>
            <a:off x="2063750" y="404813"/>
            <a:ext cx="619283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0">
                <a:latin typeface="Arial" panose="020B0604020202020204" pitchFamily="34" charset="0"/>
              </a:rPr>
              <a:t>从稳定性和系统特性考虑选取：</a:t>
            </a:r>
          </a:p>
        </p:txBody>
      </p:sp>
      <p:graphicFrame>
        <p:nvGraphicFramePr>
          <p:cNvPr id="33794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4378325" y="1095375"/>
          <a:ext cx="388778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55700" imgH="393700" progId="Equation.DSMT4">
                  <p:embed/>
                </p:oleObj>
              </mc:Choice>
              <mc:Fallback>
                <p:oleObj r:id="rId2" imgW="1155700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25" y="1095375"/>
                        <a:ext cx="3887788" cy="11430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2135188" y="2349500"/>
            <a:ext cx="5545137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0">
                <a:latin typeface="Arial" panose="020B0604020202020204" pitchFamily="34" charset="0"/>
              </a:rPr>
              <a:t>差分方程为：</a:t>
            </a:r>
          </a:p>
        </p:txBody>
      </p:sp>
      <p:graphicFrame>
        <p:nvGraphicFramePr>
          <p:cNvPr id="33796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3309938" y="3314700"/>
          <a:ext cx="5437187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86865" imgH="203200" progId="Equation.DSMT4">
                  <p:embed/>
                </p:oleObj>
              </mc:Choice>
              <mc:Fallback>
                <p:oleObj r:id="rId4" imgW="1586865" imgH="20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938" y="3314700"/>
                        <a:ext cx="5437187" cy="6699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QxZTgxOTM5OTNjNWIwYzE1MWQ2OTBmOWEwMDRkOT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778</Words>
  <Application>Microsoft Office PowerPoint</Application>
  <PresentationFormat>宽屏</PresentationFormat>
  <Paragraphs>90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隶书</vt:lpstr>
      <vt:lpstr>宋体</vt:lpstr>
      <vt:lpstr>Arial</vt:lpstr>
      <vt:lpstr>Cambria Math</vt:lpstr>
      <vt:lpstr>Wingdings</vt:lpstr>
      <vt:lpstr>WPS</vt:lpstr>
      <vt:lpstr>Equation.DSMT4</vt:lpstr>
      <vt:lpstr>Equation.3</vt:lpstr>
      <vt:lpstr>第五章  随机信号通过线性系统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小王 收鸡蛋的</cp:lastModifiedBy>
  <cp:revision>197</cp:revision>
  <dcterms:created xsi:type="dcterms:W3CDTF">2019-06-19T02:08:00Z</dcterms:created>
  <dcterms:modified xsi:type="dcterms:W3CDTF">2024-01-05T12:06:08Z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37C4073B24E4462A8101EF79C0A9E97C_11</vt:lpwstr>
  </property>
</Properties>
</file>