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49" r:id="rId3"/>
    <p:sldId id="344" r:id="rId5"/>
    <p:sldId id="611" r:id="rId6"/>
    <p:sldId id="613" r:id="rId7"/>
    <p:sldId id="612" r:id="rId8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6D6"/>
    <a:srgbClr val="D6E8F5"/>
    <a:srgbClr val="CC00CC"/>
    <a:srgbClr val="E6E6E6"/>
    <a:srgbClr val="0000CC"/>
    <a:srgbClr val="07E9DE"/>
    <a:srgbClr val="A6FCF8"/>
    <a:srgbClr val="0BDBE5"/>
    <a:srgbClr val="FF0909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94" autoAdjust="0"/>
    <p:restoredTop sz="85185" autoAdjust="0"/>
  </p:normalViewPr>
  <p:slideViewPr>
    <p:cSldViewPr showGuides="1">
      <p:cViewPr varScale="1">
        <p:scale>
          <a:sx n="71" d="100"/>
          <a:sy n="71" d="100"/>
        </p:scale>
        <p:origin x="500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2754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6ED954-11FB-4635-AEB5-863B0D23AF2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4A5DBC-874C-4EC1-A56A-53EF5C1DE3B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C8272B2-07DC-4586-AAAB-53BBCB029494}" type="slidenum">
              <a:rPr lang="en-US" altLang="zh-CN" smtClean="0"/>
            </a:fld>
            <a:endParaRPr lang="en-US" altLang="zh-CN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0F06B95-4544-49AE-92ED-A133F82D9D84}" type="slidenum">
              <a:rPr lang="en-US" altLang="zh-CN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z="100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</a:ln>
        </p:spPr>
        <p:txBody>
          <a:bodyPr/>
          <a:lstStyle/>
          <a:p>
            <a:fld id="{199357B7-686D-40C3-BB5A-7C1ADDD3B3AE}" type="slidenum">
              <a:rPr lang="zh-CN" altLang="en-US"/>
            </a:fld>
            <a:endParaRPr lang="en-US" altLang="zh-CN"/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zh-CN" sz="700" b="1" i="1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</a:ln>
        </p:spPr>
        <p:txBody>
          <a:bodyPr/>
          <a:lstStyle/>
          <a:p>
            <a:fld id="{199357B7-686D-40C3-BB5A-7C1ADDD3B3AE}" type="slidenum">
              <a:rPr lang="zh-CN" altLang="en-US"/>
            </a:fld>
            <a:endParaRPr lang="en-US" altLang="zh-CN"/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zh-CN" sz="700" b="1" i="1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</a:ln>
        </p:spPr>
        <p:txBody>
          <a:bodyPr/>
          <a:lstStyle/>
          <a:p>
            <a:fld id="{199357B7-686D-40C3-BB5A-7C1ADDD3B3AE}" type="slidenum">
              <a:rPr lang="zh-CN" altLang="en-US"/>
            </a:fld>
            <a:endParaRPr lang="en-US" altLang="zh-CN"/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700" b="1" i="1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44487C-0865-404A-86B4-9F57B17A6BD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E4BFAF-280E-4CBB-A048-B3F32F73CF1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32F3F3-8035-4507-9B92-C56FC0427C9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7966F4-C3EA-4C9A-A5B2-E56CCC87B36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3EC7E4-BA63-4E2A-9954-C9680530096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44AA07-2578-4963-96DD-21BBB412753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4C928C-1412-4F4D-864F-B3C67EC6A40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E4125E-50C0-437E-B6AE-0DC72C7D377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FA6EE1-1C03-4523-B1ED-1DE69A15EB8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C95B30-48E3-4101-94DF-DFBCCB21FFD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2242AB-6CA0-46B0-9715-3CB33E724EE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E7391C-6E3C-4AC2-BB1F-D751A5B9F6D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EB9D4E-7BED-4D5F-8F8C-3F82D30E58B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F956DE-1116-423B-A34D-A43EA66157E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1.png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smtClean="0"/>
            </a:lvl1pPr>
          </a:lstStyle>
          <a:p>
            <a:pPr>
              <a:defRPr/>
            </a:pPr>
            <a:fld id="{C14E3154-6BE5-4B33-9D13-D12EBAAE0D1B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w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wmf"/><Relationship Id="rId1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vmlDrawing" Target="../drawings/vmlDrawing3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2.wmf"/><Relationship Id="rId1" Type="http://schemas.openxmlformats.org/officeDocument/2006/relationships/oleObject" Target="../embeddings/oleObject3.bin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wmf"/><Relationship Id="rId1" Type="http://schemas.openxmlformats.org/officeDocument/2006/relationships/oleObject" Target="../embeddings/oleObject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743200" y="2514600"/>
            <a:ext cx="3886200" cy="58477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zh-CN" altLang="en-US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期末考试形式：</a:t>
            </a:r>
            <a:r>
              <a:rPr kumimoji="0" lang="zh-CN" altLang="en-US" sz="28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闭卷</a:t>
            </a:r>
            <a:endParaRPr kumimoji="0" lang="zh-CN" altLang="en-US" sz="2800" dirty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2743200" y="3197119"/>
            <a:ext cx="3886200" cy="58477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分值</a:t>
            </a:r>
            <a:r>
              <a:rPr kumimoji="0" lang="zh-CN" altLang="en-US" dirty="0">
                <a:latin typeface="楷体" panose="02010609060101010101" pitchFamily="49" charset="-122"/>
                <a:ea typeface="楷体" panose="02010609060101010101" pitchFamily="49" charset="-122"/>
                <a:sym typeface="Wingdings" panose="05000000000000000000" pitchFamily="2" charset="2"/>
              </a:rPr>
              <a:t>：</a:t>
            </a:r>
            <a:r>
              <a:rPr kumimoji="0" lang="en-US" altLang="zh-CN" dirty="0">
                <a:latin typeface="楷体" panose="02010609060101010101" pitchFamily="49" charset="-122"/>
                <a:ea typeface="楷体" panose="02010609060101010101" pitchFamily="49" charset="-122"/>
                <a:sym typeface="Wingdings" panose="05000000000000000000" pitchFamily="2" charset="2"/>
              </a:rPr>
              <a:t>50</a:t>
            </a:r>
            <a:r>
              <a:rPr kumimoji="0" lang="zh-CN" altLang="en-US" dirty="0">
                <a:latin typeface="楷体" panose="02010609060101010101" pitchFamily="49" charset="-122"/>
                <a:ea typeface="楷体" panose="02010609060101010101" pitchFamily="49" charset="-122"/>
                <a:sym typeface="Wingdings" panose="05000000000000000000" pitchFamily="2" charset="2"/>
              </a:rPr>
              <a:t>分</a:t>
            </a:r>
            <a:endParaRPr kumimoji="0" lang="en-US" altLang="zh-CN" dirty="0">
              <a:latin typeface="楷体" panose="02010609060101010101" pitchFamily="49" charset="-122"/>
              <a:ea typeface="楷体" panose="02010609060101010101" pitchFamily="49" charset="-122"/>
              <a:sym typeface="Wingdings" panose="05000000000000000000" pitchFamily="2" charset="2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3048000" y="264341"/>
            <a:ext cx="3048000" cy="58477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zh-CN" altLang="en-US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kumimoji="0" lang="en-US" altLang="zh-CN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1-4</a:t>
            </a:r>
            <a:r>
              <a:rPr kumimoji="0" lang="zh-CN" altLang="en-US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章总结</a:t>
            </a:r>
            <a:endParaRPr kumimoji="0" lang="en-US" altLang="zh-CN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5"/>
          <p:cNvSpPr>
            <a:spLocks noChangeArrowheads="1"/>
          </p:cNvSpPr>
          <p:nvPr/>
        </p:nvSpPr>
        <p:spPr bwMode="auto">
          <a:xfrm>
            <a:off x="381281" y="1217654"/>
            <a:ext cx="7972425" cy="480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28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章</a:t>
            </a:r>
            <a:r>
              <a:rPr lang="en-US" altLang="zh-CN" sz="2800" i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LC</a:t>
            </a:r>
            <a:r>
              <a:rPr lang="zh-CN" altLang="en-US" sz="28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谐振回路的选频特性和阻抗变换特性</a:t>
            </a:r>
            <a:endParaRPr lang="zh-CN" altLang="en-US" sz="2800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Rectangle 2"/>
          <p:cNvSpPr>
            <a:spLocks noChangeArrowheads="1"/>
          </p:cNvSpPr>
          <p:nvPr/>
        </p:nvSpPr>
        <p:spPr bwMode="auto">
          <a:xfrm>
            <a:off x="152401" y="272656"/>
            <a:ext cx="5334000" cy="480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2075" tIns="46038" rIns="92075" bIns="46038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571500" indent="-571500" eaLnBrk="1" hangingPunct="1">
              <a:lnSpc>
                <a:spcPct val="90000"/>
              </a:lnSpc>
              <a:spcBef>
                <a:spcPct val="0"/>
              </a:spcBef>
              <a:buFont typeface="+mj-ea"/>
              <a:buAutoNum type="ea1JpnChsDbPeriod"/>
            </a:pPr>
            <a:r>
              <a:rPr lang="zh-CN" altLang="en-US" sz="2800" b="0" dirty="0">
                <a:ea typeface="黑体" panose="02010609060101010101" pitchFamily="49" charset="-122"/>
              </a:rPr>
              <a:t>基础知识和基本分析方法</a:t>
            </a:r>
            <a:endParaRPr lang="zh-CN" altLang="en-US" sz="2800" b="0" dirty="0">
              <a:ea typeface="黑体" panose="02010609060101010101" pitchFamily="49" charset="-122"/>
            </a:endParaRPr>
          </a:p>
        </p:txBody>
      </p:sp>
      <p:graphicFrame>
        <p:nvGraphicFramePr>
          <p:cNvPr id="2" name="Object 9"/>
          <p:cNvGraphicFramePr>
            <a:graphicFrameLocks noChangeAspect="1"/>
          </p:cNvGraphicFramePr>
          <p:nvPr/>
        </p:nvGraphicFramePr>
        <p:xfrm>
          <a:off x="27426" y="3019998"/>
          <a:ext cx="8964613" cy="324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VISIO" r:id="rId1" imgW="4815840" imgH="1158240" progId="">
                  <p:embed/>
                </p:oleObj>
              </mc:Choice>
              <mc:Fallback>
                <p:oleObj name="VISIO" r:id="rId1" imgW="4815840" imgH="1158240" progId="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26" y="3019998"/>
                        <a:ext cx="8964613" cy="32400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363855" y="1875790"/>
            <a:ext cx="8676005" cy="11988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lIns="92075" tIns="46038" rIns="92075" bIns="46038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LC</a:t>
            </a:r>
            <a:r>
              <a:rPr lang="zh-CN" altLang="en-US" sz="24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串、并联谐振回路的特性、参数和作用；</a:t>
            </a:r>
            <a:endParaRPr lang="en-US" altLang="zh-CN" sz="2400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阻抗变换电路（抽头电路、</a:t>
            </a:r>
            <a:r>
              <a:rPr lang="en-US" altLang="zh-CN" sz="24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LC</a:t>
            </a:r>
            <a:r>
              <a:rPr lang="zh-CN" altLang="en-US" sz="24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选频匹配电路）及其作用</a:t>
            </a:r>
            <a:endParaRPr lang="zh-CN" altLang="en-US" sz="2400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电噪声</a:t>
            </a:r>
            <a:endParaRPr lang="en-US" altLang="zh-CN" sz="2400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04" name="Object 9"/>
          <p:cNvGraphicFramePr>
            <a:graphicFrameLocks noChangeAspect="1"/>
          </p:cNvGraphicFramePr>
          <p:nvPr/>
        </p:nvGraphicFramePr>
        <p:xfrm>
          <a:off x="31531" y="2743200"/>
          <a:ext cx="8964613" cy="324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VISIO" r:id="rId1" imgW="4815840" imgH="1158240" progId="">
                  <p:embed/>
                </p:oleObj>
              </mc:Choice>
              <mc:Fallback>
                <p:oleObj name="VISIO" r:id="rId1" imgW="4815840" imgH="1158240" progId="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31" y="2743200"/>
                        <a:ext cx="8964613" cy="32400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4561616" y="3275486"/>
            <a:ext cx="2552104" cy="1634779"/>
            <a:chOff x="4561616" y="3275486"/>
            <a:chExt cx="2552104" cy="1634779"/>
          </a:xfrm>
        </p:grpSpPr>
        <p:sp>
          <p:nvSpPr>
            <p:cNvPr id="14" name="椭圆 13"/>
            <p:cNvSpPr/>
            <p:nvPr/>
          </p:nvSpPr>
          <p:spPr>
            <a:xfrm>
              <a:off x="4561616" y="3275486"/>
              <a:ext cx="872556" cy="1533173"/>
            </a:xfrm>
            <a:prstGeom prst="ellipse">
              <a:avLst/>
            </a:prstGeom>
            <a:solidFill>
              <a:srgbClr val="FF0000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6241164" y="3377092"/>
              <a:ext cx="872556" cy="1533173"/>
            </a:xfrm>
            <a:prstGeom prst="ellipse">
              <a:avLst/>
            </a:prstGeom>
            <a:solidFill>
              <a:srgbClr val="FF0000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本框 21"/>
              <p:cNvSpPr txBox="1"/>
              <p:nvPr/>
            </p:nvSpPr>
            <p:spPr>
              <a:xfrm>
                <a:off x="584582" y="1075316"/>
                <a:ext cx="7568818" cy="830997"/>
              </a:xfrm>
              <a:prstGeom prst="rect">
                <a:avLst/>
              </a:prstGeom>
              <a:solidFill>
                <a:srgbClr val="D6E8F5"/>
              </a:solidFill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rgbClr val="00206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小信号单（多）级单调谐放大电路的特点；</a:t>
                </a:r>
                <a:endParaRPr lang="en-US" altLang="zh-CN" sz="2400" dirty="0">
                  <a:solidFill>
                    <a:srgbClr val="00206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rgbClr val="00206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用</a:t>
                </a:r>
                <a:r>
                  <a:rPr lang="en-US" altLang="zh-CN" sz="2400" dirty="0">
                    <a:solidFill>
                      <a:srgbClr val="00206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  <a:r>
                  <a:rPr lang="zh-CN" altLang="en-US" sz="2400" dirty="0">
                    <a:solidFill>
                      <a:srgbClr val="00206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参数等效法估算单级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𝐴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𝑢</m:t>
                        </m:r>
                      </m:sub>
                    </m:sSub>
                    <m:d>
                      <m:dPr>
                        <m:ctrlPr>
                          <a:rPr lang="en-US" altLang="zh-CN" sz="24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𝑢</m:t>
                            </m:r>
                            <m:r>
                              <a:rPr lang="en-US" altLang="zh-CN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_GB2312" pitchFamily="49" charset="-122"/>
                      </a:rPr>
                      <m:t>,</m:t>
                    </m:r>
                    <m:sSub>
                      <m:sSubPr>
                        <m:ctrlPr>
                          <a:rPr lang="en-US" altLang="zh-CN" sz="24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𝑄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𝑒</m:t>
                        </m:r>
                      </m:sub>
                    </m:sSub>
                    <m:r>
                      <a:rPr lang="zh-CN" altLang="en-US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_GB2312" pitchFamily="49" charset="-122"/>
                      </a:rPr>
                      <m:t>，</m:t>
                    </m:r>
                    <m:sSub>
                      <m:sSubPr>
                        <m:ctrlPr>
                          <a:rPr lang="en-US" altLang="zh-CN" sz="24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𝑓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0</m:t>
                        </m:r>
                      </m:sub>
                    </m:sSub>
                    <m:r>
                      <a:rPr lang="zh-CN" altLang="en-US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_GB2312" pitchFamily="49" charset="-122"/>
                      </a:rPr>
                      <m:t>，</m:t>
                    </m:r>
                    <m:sSub>
                      <m:sSubPr>
                        <m:ctrlPr>
                          <a:rPr lang="en-US" altLang="zh-CN" sz="24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𝐵𝑊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0</m:t>
                        </m:r>
                        <m:r>
                          <a:rPr lang="en-US" altLang="zh-CN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.</m:t>
                        </m:r>
                        <m:r>
                          <a:rPr lang="en-US" altLang="zh-CN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7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；</a:t>
                </a:r>
                <a:endParaRPr lang="zh-CN" altLang="en-US" sz="2400" dirty="0">
                  <a:solidFill>
                    <a:srgbClr val="00206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22" name="文本框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582" y="1075316"/>
                <a:ext cx="7568818" cy="830997"/>
              </a:xfrm>
              <a:prstGeom prst="rect">
                <a:avLst/>
              </a:prstGeom>
              <a:blipFill rotWithShape="1">
                <a:blip r:embed="rId3"/>
                <a:stretch>
                  <a:fillRect l="-5" t="-31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本框 23"/>
              <p:cNvSpPr txBox="1"/>
              <p:nvPr/>
            </p:nvSpPr>
            <p:spPr>
              <a:xfrm>
                <a:off x="584581" y="1906313"/>
                <a:ext cx="7568819" cy="1200329"/>
              </a:xfrm>
              <a:prstGeom prst="rect">
                <a:avLst/>
              </a:prstGeom>
              <a:solidFill>
                <a:srgbClr val="0070C0">
                  <a:alpha val="16000"/>
                </a:srgbClr>
              </a:solidFill>
            </p:spPr>
            <p:txBody>
              <a:bodyPr wrap="square">
                <a:spAutoFit/>
              </a:bodyPr>
              <a:lstStyle/>
              <a:p>
                <a:r>
                  <a:rPr lang="zh-CN" altLang="en-US" sz="2400" dirty="0">
                    <a:solidFill>
                      <a:srgbClr val="00206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  多级单调谐回路谐振放大器的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𝐴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altLang="zh-CN" sz="24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𝑛</m:t>
                            </m:r>
                            <m:r>
                              <a:rPr lang="en-US" altLang="zh-CN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_GB2312" pitchFamily="49" charset="-122"/>
                      </a:rPr>
                      <m:t>,</m:t>
                    </m:r>
                    <m:sSub>
                      <m:sSubPr>
                        <m:ctrlPr>
                          <a:rPr lang="en-US" altLang="zh-CN" sz="24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𝐵𝑊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𝑛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_GB2312" pitchFamily="49" charset="-122"/>
                      </a:rPr>
                      <m:t> </m:t>
                    </m:r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；</a:t>
                </a:r>
                <a:endParaRPr lang="en-US" altLang="zh-CN" sz="2400" dirty="0">
                  <a:solidFill>
                    <a:srgbClr val="00206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rgbClr val="00206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自激产生的原因及克服自激的方法；</a:t>
                </a:r>
                <a:endParaRPr lang="en-US" altLang="zh-CN" sz="2400" dirty="0">
                  <a:solidFill>
                    <a:srgbClr val="00206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rgbClr val="00206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展宽放大器频带的方法。</a:t>
                </a:r>
                <a:endParaRPr lang="zh-CN" altLang="en-US" sz="2400" dirty="0">
                  <a:solidFill>
                    <a:srgbClr val="00206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24" name="文本框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581" y="1906313"/>
                <a:ext cx="7568819" cy="1200329"/>
              </a:xfrm>
              <a:prstGeom prst="rect">
                <a:avLst/>
              </a:prstGeom>
              <a:blipFill rotWithShape="1">
                <a:blip r:embed="rId4"/>
                <a:stretch>
                  <a:fillRect l="-5" t="-4" b="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本框 24"/>
          <p:cNvSpPr txBox="1"/>
          <p:nvPr/>
        </p:nvSpPr>
        <p:spPr>
          <a:xfrm>
            <a:off x="128162" y="197493"/>
            <a:ext cx="70466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ea"/>
              <a:buAutoNum type="ea1JpnChsDbPeriod" startAt="2"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放大电路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小信号放大器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和功率放大器）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04" name="Object 9"/>
          <p:cNvGraphicFramePr>
            <a:graphicFrameLocks noChangeAspect="1"/>
          </p:cNvGraphicFramePr>
          <p:nvPr/>
        </p:nvGraphicFramePr>
        <p:xfrm>
          <a:off x="31531" y="2743200"/>
          <a:ext cx="8964613" cy="324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VISIO" r:id="rId1" imgW="4815840" imgH="1158240" progId="">
                  <p:embed/>
                </p:oleObj>
              </mc:Choice>
              <mc:Fallback>
                <p:oleObj name="VISIO" r:id="rId1" imgW="4815840" imgH="1158240" progId="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31" y="2743200"/>
                        <a:ext cx="8964613" cy="32400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椭圆 1"/>
          <p:cNvSpPr/>
          <p:nvPr/>
        </p:nvSpPr>
        <p:spPr>
          <a:xfrm>
            <a:off x="3045966" y="3353448"/>
            <a:ext cx="1058502" cy="1533173"/>
          </a:xfrm>
          <a:prstGeom prst="ellipse">
            <a:avLst/>
          </a:prstGeom>
          <a:solidFill>
            <a:srgbClr val="FF0000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本框 23"/>
              <p:cNvSpPr txBox="1"/>
              <p:nvPr/>
            </p:nvSpPr>
            <p:spPr>
              <a:xfrm>
                <a:off x="457200" y="1070013"/>
                <a:ext cx="8364859" cy="1568450"/>
              </a:xfrm>
              <a:prstGeom prst="rect">
                <a:avLst/>
              </a:prstGeom>
              <a:solidFill>
                <a:srgbClr val="0070C0">
                  <a:alpha val="16000"/>
                </a:srgbClr>
              </a:solidFill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rgbClr val="00206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丙类谐振功放电路的作用、结构特点和工作原理；</a:t>
                </a:r>
                <a:endParaRPr lang="en-US" altLang="zh-CN" sz="2400" dirty="0">
                  <a:solidFill>
                    <a:srgbClr val="00206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rgbClr val="00206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分析方法</a:t>
                </a:r>
                <a:r>
                  <a:rPr lang="en-US" altLang="zh-CN" sz="2400" dirty="0">
                    <a:solidFill>
                      <a:srgbClr val="00206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—</a:t>
                </a:r>
                <a:r>
                  <a:rPr lang="zh-CN" altLang="en-US" sz="2400" dirty="0">
                    <a:solidFill>
                      <a:srgbClr val="00206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折线近似分析法；</a:t>
                </a:r>
                <a:endParaRPr lang="en-US" altLang="zh-CN" sz="2400" dirty="0">
                  <a:solidFill>
                    <a:srgbClr val="00206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rgbClr val="00206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分析</a:t>
                </a:r>
                <a:r>
                  <a:rPr lang="en-US" altLang="zh-CN" sz="2400" dirty="0">
                    <a:solidFill>
                      <a:srgbClr val="00206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4</a:t>
                </a:r>
                <a:r>
                  <a:rPr lang="zh-CN" altLang="en-US" sz="2400" dirty="0">
                    <a:solidFill>
                      <a:srgbClr val="00206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个外部参量对高功放的工作状态的影响；主要指标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𝑃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𝑜</m:t>
                        </m:r>
                      </m:sub>
                    </m:sSub>
                    <m:r>
                      <a:rPr lang="zh-CN" altLang="en-US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，</m:t>
                    </m:r>
                    <m:r>
                      <a:rPr lang="zh-CN" altLang="en-US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𝜂</m:t>
                    </m:r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、</a:t>
                </a:r>
                <a:r>
                  <a:rPr lang="en-US" altLang="zh-CN" sz="2400" dirty="0">
                    <a:solidFill>
                      <a:srgbClr val="002060"/>
                    </a:solidFill>
                    <a:ea typeface="黑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𝑃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、</a:t>
                </a:r>
                <a:r>
                  <a:rPr lang="en-US" altLang="zh-CN" sz="2400" dirty="0">
                    <a:solidFill>
                      <a:srgbClr val="002060"/>
                    </a:solidFill>
                    <a:ea typeface="黑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𝑃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的估算。</a:t>
                </a:r>
                <a:endParaRPr lang="zh-CN" altLang="en-US" sz="2400" dirty="0">
                  <a:solidFill>
                    <a:srgbClr val="00206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24" name="文本框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070013"/>
                <a:ext cx="8364859" cy="1568450"/>
              </a:xfrm>
              <a:prstGeom prst="rect">
                <a:avLst/>
              </a:prstGeom>
              <a:blipFill rotWithShape="1">
                <a:blip r:embed="rId3"/>
                <a:stretch>
                  <a:fillRect t="-2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本框 24"/>
          <p:cNvSpPr txBox="1"/>
          <p:nvPr/>
        </p:nvSpPr>
        <p:spPr>
          <a:xfrm>
            <a:off x="128162" y="197493"/>
            <a:ext cx="70466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ea"/>
              <a:buAutoNum type="ea1JpnChsDbPeriod" startAt="2"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放大电路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小信号放大器和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功率放大器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04" name="Object 9"/>
          <p:cNvGraphicFramePr>
            <a:graphicFrameLocks noChangeAspect="1"/>
          </p:cNvGraphicFramePr>
          <p:nvPr/>
        </p:nvGraphicFramePr>
        <p:xfrm>
          <a:off x="31531" y="2743200"/>
          <a:ext cx="8964613" cy="324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VISIO" r:id="rId1" imgW="4815840" imgH="1158240" progId="">
                  <p:embed/>
                </p:oleObj>
              </mc:Choice>
              <mc:Fallback>
                <p:oleObj name="VISIO" r:id="rId1" imgW="4815840" imgH="1158240" progId="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31" y="2743200"/>
                        <a:ext cx="8964613" cy="32400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椭圆 1"/>
          <p:cNvSpPr/>
          <p:nvPr/>
        </p:nvSpPr>
        <p:spPr>
          <a:xfrm>
            <a:off x="1096757" y="4614862"/>
            <a:ext cx="1058502" cy="1533173"/>
          </a:xfrm>
          <a:prstGeom prst="ellipse">
            <a:avLst/>
          </a:prstGeom>
          <a:solidFill>
            <a:srgbClr val="C00000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椭圆 13"/>
          <p:cNvSpPr/>
          <p:nvPr/>
        </p:nvSpPr>
        <p:spPr>
          <a:xfrm>
            <a:off x="5292873" y="4741926"/>
            <a:ext cx="1161372" cy="1533173"/>
          </a:xfrm>
          <a:prstGeom prst="ellipse">
            <a:avLst/>
          </a:prstGeom>
          <a:solidFill>
            <a:srgbClr val="C00000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Rectangle 8"/>
          <p:cNvSpPr>
            <a:spLocks noChangeArrowheads="1"/>
          </p:cNvSpPr>
          <p:nvPr/>
        </p:nvSpPr>
        <p:spPr bwMode="auto">
          <a:xfrm>
            <a:off x="580012" y="1201859"/>
            <a:ext cx="7867650" cy="1751965"/>
          </a:xfrm>
          <a:prstGeom prst="rect">
            <a:avLst/>
          </a:prstGeom>
          <a:solidFill>
            <a:srgbClr val="D6E8F5"/>
          </a:solidFill>
          <a:ln>
            <a:noFill/>
          </a:ln>
          <a:effectLst/>
        </p:spPr>
        <p:txBody>
          <a:bodyPr lIns="92075" tIns="46038" rIns="92075" bIns="46038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反馈型正弦波振荡电路的基本原理及判断</a:t>
            </a:r>
            <a:r>
              <a:rPr lang="en-US" altLang="zh-CN" sz="24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4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起振、平衡、平衡状态的稳定条件</a:t>
            </a:r>
            <a:r>
              <a:rPr lang="en-US" altLang="zh-CN" sz="24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4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en-US" altLang="zh-CN" sz="2400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LC</a:t>
            </a:r>
            <a:r>
              <a:rPr lang="zh-CN" altLang="en-US" sz="24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振荡电路的类型并判断其能否正常工作</a:t>
            </a:r>
            <a:r>
              <a:rPr lang="en-US" altLang="zh-CN" sz="24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  <a:endParaRPr lang="en-US" altLang="zh-CN" sz="2400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常用振荡电路的分析 </a:t>
            </a:r>
            <a:r>
              <a:rPr lang="en-US" altLang="zh-CN" sz="18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8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交流通路</a:t>
            </a:r>
            <a:r>
              <a:rPr lang="en-US" altLang="zh-CN" sz="18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  <a:r>
              <a:rPr lang="zh-CN" altLang="en-US" sz="18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三点式振荡电路的组成法则、振幅起振条件</a:t>
            </a:r>
            <a:r>
              <a:rPr lang="en-US" altLang="zh-CN" sz="18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4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和振荡频率的估算。</a:t>
            </a:r>
            <a:endParaRPr lang="en-US" altLang="zh-CN" sz="2400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54946" y="232339"/>
            <a:ext cx="59964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+mj-ea"/>
              <a:buAutoNum type="ea1JpnChsDbPeriod" startAt="3"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高频信号的产生电路（振荡器）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bldLvl="0" animBg="1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490</Words>
  <Application>WPS 演示</Application>
  <PresentationFormat>全屏显示(4:3)</PresentationFormat>
  <Paragraphs>35</Paragraphs>
  <Slides>5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5</vt:i4>
      </vt:variant>
    </vt:vector>
  </HeadingPairs>
  <TitlesOfParts>
    <vt:vector size="18" baseType="lpstr">
      <vt:lpstr>Arial</vt:lpstr>
      <vt:lpstr>宋体</vt:lpstr>
      <vt:lpstr>Wingdings</vt:lpstr>
      <vt:lpstr>Times New Roman</vt:lpstr>
      <vt:lpstr>黑体</vt:lpstr>
      <vt:lpstr>楷体</vt:lpstr>
      <vt:lpstr>Cambria Math</vt:lpstr>
      <vt:lpstr>楷体_GB2312</vt:lpstr>
      <vt:lpstr>新宋体</vt:lpstr>
      <vt:lpstr>微软雅黑</vt:lpstr>
      <vt:lpstr>Arial Unicode MS</vt:lpstr>
      <vt:lpstr>Calibri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cm</dc:creator>
  <cp:lastModifiedBy>微信用户</cp:lastModifiedBy>
  <cp:revision>311</cp:revision>
  <cp:lastPrinted>2113-01-01T00:00:00Z</cp:lastPrinted>
  <dcterms:created xsi:type="dcterms:W3CDTF">2113-01-01T00:00:00Z</dcterms:created>
  <dcterms:modified xsi:type="dcterms:W3CDTF">2025-10-28T11:36:08Z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ICV">
    <vt:lpwstr>89C457B89CA44DDC89E61FDDF12247BA_12</vt:lpwstr>
  </property>
  <property fmtid="{D5CDD505-2E9C-101B-9397-08002B2CF9AE}" pid="4" name="KSOProductBuildVer">
    <vt:lpwstr>2052-12.1.0.23125</vt:lpwstr>
  </property>
</Properties>
</file>